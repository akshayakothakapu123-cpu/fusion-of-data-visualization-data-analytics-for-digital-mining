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3"/>
  </p:notesMasterIdLst>
  <p:sldIdLst>
    <p:sldId id="269" r:id="rId2"/>
    <p:sldId id="257" r:id="rId3"/>
    <p:sldId id="258" r:id="rId4"/>
    <p:sldId id="259" r:id="rId5"/>
    <p:sldId id="260" r:id="rId6"/>
    <p:sldId id="261" r:id="rId7"/>
    <p:sldId id="262" r:id="rId8"/>
    <p:sldId id="266" r:id="rId9"/>
    <p:sldId id="265" r:id="rId10"/>
    <p:sldId id="270"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120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36F457-F458-4F1F-8D3D-0921197FD123}" type="datetimeFigureOut">
              <a:rPr lang="en-IN" smtClean="0"/>
              <a:t>08-04-2026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6FBBF0-7CBF-4904-A49E-4E6319A6CCE2}" type="slidenum">
              <a:rPr lang="en-IN" smtClean="0"/>
              <a:t>‹#›</a:t>
            </a:fld>
            <a:endParaRPr lang="en-IN"/>
          </a:p>
        </p:txBody>
      </p:sp>
    </p:spTree>
    <p:extLst>
      <p:ext uri="{BB962C8B-B14F-4D97-AF65-F5344CB8AC3E}">
        <p14:creationId xmlns:p14="http://schemas.microsoft.com/office/powerpoint/2010/main" val="1896031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6FBBF0-7CBF-4904-A49E-4E6319A6CCE2}" type="slidenum">
              <a:rPr lang="en-IN" smtClean="0"/>
              <a:t>1</a:t>
            </a:fld>
            <a:endParaRPr lang="en-IN"/>
          </a:p>
        </p:txBody>
      </p:sp>
    </p:spTree>
    <p:extLst>
      <p:ext uri="{BB962C8B-B14F-4D97-AF65-F5344CB8AC3E}">
        <p14:creationId xmlns:p14="http://schemas.microsoft.com/office/powerpoint/2010/main" val="3681330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5FD7F-3400-4A2B-A458-42A5EFF016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6E9A6B4-B71F-FAAD-7FD3-786020EC31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6AD241D-C845-2D4C-8DD9-BE44B0A8F079}"/>
              </a:ext>
            </a:extLst>
          </p:cNvPr>
          <p:cNvSpPr>
            <a:spLocks noGrp="1"/>
          </p:cNvSpPr>
          <p:nvPr>
            <p:ph type="dt" sz="half" idx="10"/>
          </p:nvPr>
        </p:nvSpPr>
        <p:spPr/>
        <p:txBody>
          <a:bodyPr/>
          <a:lstStyle/>
          <a:p>
            <a:fld id="{9696CF86-67EA-414C-93C4-B412F26DB762}" type="datetimeFigureOut">
              <a:rPr lang="en-IN" smtClean="0"/>
              <a:t>08-04-2026</a:t>
            </a:fld>
            <a:endParaRPr lang="en-IN"/>
          </a:p>
        </p:txBody>
      </p:sp>
      <p:sp>
        <p:nvSpPr>
          <p:cNvPr id="5" name="Footer Placeholder 4">
            <a:extLst>
              <a:ext uri="{FF2B5EF4-FFF2-40B4-BE49-F238E27FC236}">
                <a16:creationId xmlns:a16="http://schemas.microsoft.com/office/drawing/2014/main" id="{15FCEAF2-ECD0-8E19-5E43-16D9E5FA0B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6196C3-C35C-6E6C-6706-9B2432E86B7E}"/>
              </a:ext>
            </a:extLst>
          </p:cNvPr>
          <p:cNvSpPr>
            <a:spLocks noGrp="1"/>
          </p:cNvSpPr>
          <p:nvPr>
            <p:ph type="sldNum" sz="quarter" idx="12"/>
          </p:nvPr>
        </p:nvSpPr>
        <p:spPr/>
        <p:txBody>
          <a:bodyPr/>
          <a:lstStyle/>
          <a:p>
            <a:fld id="{F9EA3036-3AA5-4C72-A939-1CFB9FF0298A}" type="slidenum">
              <a:rPr lang="en-IN" smtClean="0"/>
              <a:t>‹#›</a:t>
            </a:fld>
            <a:endParaRPr lang="en-IN"/>
          </a:p>
        </p:txBody>
      </p:sp>
    </p:spTree>
    <p:extLst>
      <p:ext uri="{BB962C8B-B14F-4D97-AF65-F5344CB8AC3E}">
        <p14:creationId xmlns:p14="http://schemas.microsoft.com/office/powerpoint/2010/main" val="2825693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5F371-E307-B818-8EAE-7F3D940802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8DE108-5AE3-A78B-9659-F6A1B7F278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FB48C5-3AE6-3C87-55F7-DCB161F43BEA}"/>
              </a:ext>
            </a:extLst>
          </p:cNvPr>
          <p:cNvSpPr>
            <a:spLocks noGrp="1"/>
          </p:cNvSpPr>
          <p:nvPr>
            <p:ph type="dt" sz="half" idx="10"/>
          </p:nvPr>
        </p:nvSpPr>
        <p:spPr/>
        <p:txBody>
          <a:bodyPr/>
          <a:lstStyle/>
          <a:p>
            <a:fld id="{9696CF86-67EA-414C-93C4-B412F26DB762}" type="datetimeFigureOut">
              <a:rPr lang="en-IN" smtClean="0"/>
              <a:t>08-04-2026</a:t>
            </a:fld>
            <a:endParaRPr lang="en-IN"/>
          </a:p>
        </p:txBody>
      </p:sp>
      <p:sp>
        <p:nvSpPr>
          <p:cNvPr id="5" name="Footer Placeholder 4">
            <a:extLst>
              <a:ext uri="{FF2B5EF4-FFF2-40B4-BE49-F238E27FC236}">
                <a16:creationId xmlns:a16="http://schemas.microsoft.com/office/drawing/2014/main" id="{9AA2D2C7-AC06-3CC2-B3B7-3AB050D524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FC554D-D80A-6282-F91E-59AB4F6312AB}"/>
              </a:ext>
            </a:extLst>
          </p:cNvPr>
          <p:cNvSpPr>
            <a:spLocks noGrp="1"/>
          </p:cNvSpPr>
          <p:nvPr>
            <p:ph type="sldNum" sz="quarter" idx="12"/>
          </p:nvPr>
        </p:nvSpPr>
        <p:spPr/>
        <p:txBody>
          <a:bodyPr/>
          <a:lstStyle/>
          <a:p>
            <a:fld id="{F9EA3036-3AA5-4C72-A939-1CFB9FF0298A}" type="slidenum">
              <a:rPr lang="en-IN" smtClean="0"/>
              <a:t>‹#›</a:t>
            </a:fld>
            <a:endParaRPr lang="en-IN"/>
          </a:p>
        </p:txBody>
      </p:sp>
    </p:spTree>
    <p:extLst>
      <p:ext uri="{BB962C8B-B14F-4D97-AF65-F5344CB8AC3E}">
        <p14:creationId xmlns:p14="http://schemas.microsoft.com/office/powerpoint/2010/main" val="1475037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BCE64-AFFD-1171-E6AB-972B159B07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7E9F4DC-A27E-96A7-DDF9-3717210DA5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21256F-8775-E91B-F66B-DEA9B86CDBBF}"/>
              </a:ext>
            </a:extLst>
          </p:cNvPr>
          <p:cNvSpPr>
            <a:spLocks noGrp="1"/>
          </p:cNvSpPr>
          <p:nvPr>
            <p:ph type="dt" sz="half" idx="10"/>
          </p:nvPr>
        </p:nvSpPr>
        <p:spPr/>
        <p:txBody>
          <a:bodyPr/>
          <a:lstStyle/>
          <a:p>
            <a:fld id="{9696CF86-67EA-414C-93C4-B412F26DB762}" type="datetimeFigureOut">
              <a:rPr lang="en-IN" smtClean="0"/>
              <a:t>08-04-2026</a:t>
            </a:fld>
            <a:endParaRPr lang="en-IN"/>
          </a:p>
        </p:txBody>
      </p:sp>
      <p:sp>
        <p:nvSpPr>
          <p:cNvPr id="5" name="Footer Placeholder 4">
            <a:extLst>
              <a:ext uri="{FF2B5EF4-FFF2-40B4-BE49-F238E27FC236}">
                <a16:creationId xmlns:a16="http://schemas.microsoft.com/office/drawing/2014/main" id="{DCDA1CF5-869E-9A51-A94F-E79667828E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8BAE95-5975-5EB3-C3E4-8DC400B72DD0}"/>
              </a:ext>
            </a:extLst>
          </p:cNvPr>
          <p:cNvSpPr>
            <a:spLocks noGrp="1"/>
          </p:cNvSpPr>
          <p:nvPr>
            <p:ph type="sldNum" sz="quarter" idx="12"/>
          </p:nvPr>
        </p:nvSpPr>
        <p:spPr/>
        <p:txBody>
          <a:bodyPr/>
          <a:lstStyle/>
          <a:p>
            <a:fld id="{F9EA3036-3AA5-4C72-A939-1CFB9FF0298A}" type="slidenum">
              <a:rPr lang="en-IN" smtClean="0"/>
              <a:t>‹#›</a:t>
            </a:fld>
            <a:endParaRPr lang="en-IN"/>
          </a:p>
        </p:txBody>
      </p:sp>
    </p:spTree>
    <p:extLst>
      <p:ext uri="{BB962C8B-B14F-4D97-AF65-F5344CB8AC3E}">
        <p14:creationId xmlns:p14="http://schemas.microsoft.com/office/powerpoint/2010/main" val="3983622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A3F8-910E-2282-2E1F-5EFD514413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1A01BF-3F00-8ADE-023E-32CE7E8910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095992D-3E38-CD8C-189F-DDD2DAF650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D8002CE-3E2B-778C-DBA3-05F1AF44580A}"/>
              </a:ext>
            </a:extLst>
          </p:cNvPr>
          <p:cNvSpPr>
            <a:spLocks noGrp="1"/>
          </p:cNvSpPr>
          <p:nvPr>
            <p:ph type="dt" sz="half" idx="10"/>
          </p:nvPr>
        </p:nvSpPr>
        <p:spPr/>
        <p:txBody>
          <a:bodyPr/>
          <a:lstStyle/>
          <a:p>
            <a:fld id="{9696CF86-67EA-414C-93C4-B412F26DB762}" type="datetimeFigureOut">
              <a:rPr lang="en-IN" smtClean="0"/>
              <a:t>08-04-2026</a:t>
            </a:fld>
            <a:endParaRPr lang="en-IN"/>
          </a:p>
        </p:txBody>
      </p:sp>
      <p:sp>
        <p:nvSpPr>
          <p:cNvPr id="6" name="Footer Placeholder 5">
            <a:extLst>
              <a:ext uri="{FF2B5EF4-FFF2-40B4-BE49-F238E27FC236}">
                <a16:creationId xmlns:a16="http://schemas.microsoft.com/office/drawing/2014/main" id="{D4EF7C78-E81C-8502-0152-0A50C312DA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0F1720-8163-8611-272D-11692BF4A276}"/>
              </a:ext>
            </a:extLst>
          </p:cNvPr>
          <p:cNvSpPr>
            <a:spLocks noGrp="1"/>
          </p:cNvSpPr>
          <p:nvPr>
            <p:ph type="sldNum" sz="quarter" idx="12"/>
          </p:nvPr>
        </p:nvSpPr>
        <p:spPr/>
        <p:txBody>
          <a:bodyPr/>
          <a:lstStyle/>
          <a:p>
            <a:fld id="{F9EA3036-3AA5-4C72-A939-1CFB9FF0298A}" type="slidenum">
              <a:rPr lang="en-IN" smtClean="0"/>
              <a:t>‹#›</a:t>
            </a:fld>
            <a:endParaRPr lang="en-IN"/>
          </a:p>
        </p:txBody>
      </p:sp>
    </p:spTree>
    <p:extLst>
      <p:ext uri="{BB962C8B-B14F-4D97-AF65-F5344CB8AC3E}">
        <p14:creationId xmlns:p14="http://schemas.microsoft.com/office/powerpoint/2010/main" val="2209618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EE9FD-255C-7723-8D7D-5FDCF8C6598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DE831B-1F5F-C03B-FE03-22DD1423EC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1F0128-A6F5-0E84-F57D-309F1A2110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D93D3EA-FA5E-112C-15E0-E691928014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4B3F5D-4AC5-1A89-7D6A-1AE70F4656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4DBB9C-39A5-4D85-3DB2-38422FD56332}"/>
              </a:ext>
            </a:extLst>
          </p:cNvPr>
          <p:cNvSpPr>
            <a:spLocks noGrp="1"/>
          </p:cNvSpPr>
          <p:nvPr>
            <p:ph type="dt" sz="half" idx="10"/>
          </p:nvPr>
        </p:nvSpPr>
        <p:spPr/>
        <p:txBody>
          <a:bodyPr/>
          <a:lstStyle/>
          <a:p>
            <a:fld id="{9696CF86-67EA-414C-93C4-B412F26DB762}" type="datetimeFigureOut">
              <a:rPr lang="en-IN" smtClean="0"/>
              <a:t>08-04-2026</a:t>
            </a:fld>
            <a:endParaRPr lang="en-IN"/>
          </a:p>
        </p:txBody>
      </p:sp>
      <p:sp>
        <p:nvSpPr>
          <p:cNvPr id="8" name="Footer Placeholder 7">
            <a:extLst>
              <a:ext uri="{FF2B5EF4-FFF2-40B4-BE49-F238E27FC236}">
                <a16:creationId xmlns:a16="http://schemas.microsoft.com/office/drawing/2014/main" id="{808A88E7-6021-778B-ACDD-659A4C402AF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4E76DC4-3473-9E72-5364-E6C0B7E00D62}"/>
              </a:ext>
            </a:extLst>
          </p:cNvPr>
          <p:cNvSpPr>
            <a:spLocks noGrp="1"/>
          </p:cNvSpPr>
          <p:nvPr>
            <p:ph type="sldNum" sz="quarter" idx="12"/>
          </p:nvPr>
        </p:nvSpPr>
        <p:spPr/>
        <p:txBody>
          <a:bodyPr/>
          <a:lstStyle/>
          <a:p>
            <a:fld id="{F9EA3036-3AA5-4C72-A939-1CFB9FF0298A}" type="slidenum">
              <a:rPr lang="en-IN" smtClean="0"/>
              <a:t>‹#›</a:t>
            </a:fld>
            <a:endParaRPr lang="en-IN"/>
          </a:p>
        </p:txBody>
      </p:sp>
    </p:spTree>
    <p:extLst>
      <p:ext uri="{BB962C8B-B14F-4D97-AF65-F5344CB8AC3E}">
        <p14:creationId xmlns:p14="http://schemas.microsoft.com/office/powerpoint/2010/main" val="432812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8235D-1479-0451-4D0D-69217E4B968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735F863-A3C8-098F-16A9-53390EB1F44F}"/>
              </a:ext>
            </a:extLst>
          </p:cNvPr>
          <p:cNvSpPr>
            <a:spLocks noGrp="1"/>
          </p:cNvSpPr>
          <p:nvPr>
            <p:ph type="dt" sz="half" idx="10"/>
          </p:nvPr>
        </p:nvSpPr>
        <p:spPr/>
        <p:txBody>
          <a:bodyPr/>
          <a:lstStyle/>
          <a:p>
            <a:fld id="{9696CF86-67EA-414C-93C4-B412F26DB762}" type="datetimeFigureOut">
              <a:rPr lang="en-IN" smtClean="0"/>
              <a:t>08-04-2026</a:t>
            </a:fld>
            <a:endParaRPr lang="en-IN"/>
          </a:p>
        </p:txBody>
      </p:sp>
      <p:sp>
        <p:nvSpPr>
          <p:cNvPr id="4" name="Footer Placeholder 3">
            <a:extLst>
              <a:ext uri="{FF2B5EF4-FFF2-40B4-BE49-F238E27FC236}">
                <a16:creationId xmlns:a16="http://schemas.microsoft.com/office/drawing/2014/main" id="{113A61B7-439B-0CF3-3015-9E04EAEE145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830F8A6-8031-8BAE-338B-70A69F835596}"/>
              </a:ext>
            </a:extLst>
          </p:cNvPr>
          <p:cNvSpPr>
            <a:spLocks noGrp="1"/>
          </p:cNvSpPr>
          <p:nvPr>
            <p:ph type="sldNum" sz="quarter" idx="12"/>
          </p:nvPr>
        </p:nvSpPr>
        <p:spPr/>
        <p:txBody>
          <a:bodyPr/>
          <a:lstStyle/>
          <a:p>
            <a:fld id="{F9EA3036-3AA5-4C72-A939-1CFB9FF0298A}" type="slidenum">
              <a:rPr lang="en-IN" smtClean="0"/>
              <a:t>‹#›</a:t>
            </a:fld>
            <a:endParaRPr lang="en-IN"/>
          </a:p>
        </p:txBody>
      </p:sp>
    </p:spTree>
    <p:extLst>
      <p:ext uri="{BB962C8B-B14F-4D97-AF65-F5344CB8AC3E}">
        <p14:creationId xmlns:p14="http://schemas.microsoft.com/office/powerpoint/2010/main" val="111486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93DD86-6F30-21F4-C44A-0AA6F0DF77B3}"/>
              </a:ext>
            </a:extLst>
          </p:cNvPr>
          <p:cNvSpPr>
            <a:spLocks noGrp="1"/>
          </p:cNvSpPr>
          <p:nvPr>
            <p:ph type="dt" sz="half" idx="10"/>
          </p:nvPr>
        </p:nvSpPr>
        <p:spPr/>
        <p:txBody>
          <a:bodyPr/>
          <a:lstStyle/>
          <a:p>
            <a:fld id="{9696CF86-67EA-414C-93C4-B412F26DB762}" type="datetimeFigureOut">
              <a:rPr lang="en-IN" smtClean="0"/>
              <a:t>08-04-2026</a:t>
            </a:fld>
            <a:endParaRPr lang="en-IN"/>
          </a:p>
        </p:txBody>
      </p:sp>
      <p:sp>
        <p:nvSpPr>
          <p:cNvPr id="3" name="Footer Placeholder 2">
            <a:extLst>
              <a:ext uri="{FF2B5EF4-FFF2-40B4-BE49-F238E27FC236}">
                <a16:creationId xmlns:a16="http://schemas.microsoft.com/office/drawing/2014/main" id="{FC7ECB58-F61A-1EE2-8646-840C0891074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F9686B5-EE3B-47A1-73B6-89B28AA83E02}"/>
              </a:ext>
            </a:extLst>
          </p:cNvPr>
          <p:cNvSpPr>
            <a:spLocks noGrp="1"/>
          </p:cNvSpPr>
          <p:nvPr>
            <p:ph type="sldNum" sz="quarter" idx="12"/>
          </p:nvPr>
        </p:nvSpPr>
        <p:spPr/>
        <p:txBody>
          <a:bodyPr/>
          <a:lstStyle/>
          <a:p>
            <a:fld id="{F9EA3036-3AA5-4C72-A939-1CFB9FF0298A}" type="slidenum">
              <a:rPr lang="en-IN" smtClean="0"/>
              <a:t>‹#›</a:t>
            </a:fld>
            <a:endParaRPr lang="en-IN"/>
          </a:p>
        </p:txBody>
      </p:sp>
    </p:spTree>
    <p:extLst>
      <p:ext uri="{BB962C8B-B14F-4D97-AF65-F5344CB8AC3E}">
        <p14:creationId xmlns:p14="http://schemas.microsoft.com/office/powerpoint/2010/main" val="2753980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E7168-435C-5FCA-FDB4-FA9E856FA4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25F0CE6-7D1C-204E-3D59-3611B72B4E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09EFEDF-8324-BE32-2323-E339B0E63C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89F6CF-BCC8-31CF-1332-53663CAB6ABF}"/>
              </a:ext>
            </a:extLst>
          </p:cNvPr>
          <p:cNvSpPr>
            <a:spLocks noGrp="1"/>
          </p:cNvSpPr>
          <p:nvPr>
            <p:ph type="dt" sz="half" idx="10"/>
          </p:nvPr>
        </p:nvSpPr>
        <p:spPr/>
        <p:txBody>
          <a:bodyPr/>
          <a:lstStyle/>
          <a:p>
            <a:fld id="{9696CF86-67EA-414C-93C4-B412F26DB762}" type="datetimeFigureOut">
              <a:rPr lang="en-IN" smtClean="0"/>
              <a:t>08-04-2026</a:t>
            </a:fld>
            <a:endParaRPr lang="en-IN"/>
          </a:p>
        </p:txBody>
      </p:sp>
      <p:sp>
        <p:nvSpPr>
          <p:cNvPr id="6" name="Footer Placeholder 5">
            <a:extLst>
              <a:ext uri="{FF2B5EF4-FFF2-40B4-BE49-F238E27FC236}">
                <a16:creationId xmlns:a16="http://schemas.microsoft.com/office/drawing/2014/main" id="{6B85A55A-F453-550C-730E-0E8B5A8D41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7DFC79-E345-1D19-DF95-B847A30193A8}"/>
              </a:ext>
            </a:extLst>
          </p:cNvPr>
          <p:cNvSpPr>
            <a:spLocks noGrp="1"/>
          </p:cNvSpPr>
          <p:nvPr>
            <p:ph type="sldNum" sz="quarter" idx="12"/>
          </p:nvPr>
        </p:nvSpPr>
        <p:spPr/>
        <p:txBody>
          <a:bodyPr/>
          <a:lstStyle/>
          <a:p>
            <a:fld id="{F9EA3036-3AA5-4C72-A939-1CFB9FF0298A}" type="slidenum">
              <a:rPr lang="en-IN" smtClean="0"/>
              <a:t>‹#›</a:t>
            </a:fld>
            <a:endParaRPr lang="en-IN"/>
          </a:p>
        </p:txBody>
      </p:sp>
    </p:spTree>
    <p:extLst>
      <p:ext uri="{BB962C8B-B14F-4D97-AF65-F5344CB8AC3E}">
        <p14:creationId xmlns:p14="http://schemas.microsoft.com/office/powerpoint/2010/main" val="3916877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EB51B-1CD3-31C0-E1FD-FA43351106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053F219-36D5-FB07-AD1D-9E1D9AD6B9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572312E-4D44-3E84-B8D5-28EF45F9CC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A7A40A-58A5-F9B4-D0D2-1300975382C6}"/>
              </a:ext>
            </a:extLst>
          </p:cNvPr>
          <p:cNvSpPr>
            <a:spLocks noGrp="1"/>
          </p:cNvSpPr>
          <p:nvPr>
            <p:ph type="dt" sz="half" idx="10"/>
          </p:nvPr>
        </p:nvSpPr>
        <p:spPr/>
        <p:txBody>
          <a:bodyPr/>
          <a:lstStyle/>
          <a:p>
            <a:fld id="{9696CF86-67EA-414C-93C4-B412F26DB762}" type="datetimeFigureOut">
              <a:rPr lang="en-IN" smtClean="0"/>
              <a:t>08-04-2026</a:t>
            </a:fld>
            <a:endParaRPr lang="en-IN"/>
          </a:p>
        </p:txBody>
      </p:sp>
      <p:sp>
        <p:nvSpPr>
          <p:cNvPr id="6" name="Footer Placeholder 5">
            <a:extLst>
              <a:ext uri="{FF2B5EF4-FFF2-40B4-BE49-F238E27FC236}">
                <a16:creationId xmlns:a16="http://schemas.microsoft.com/office/drawing/2014/main" id="{53E1D80B-7398-F599-1EE2-0D619BCE1E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AED6B5-7F47-5618-B3A9-C52FDF25A632}"/>
              </a:ext>
            </a:extLst>
          </p:cNvPr>
          <p:cNvSpPr>
            <a:spLocks noGrp="1"/>
          </p:cNvSpPr>
          <p:nvPr>
            <p:ph type="sldNum" sz="quarter" idx="12"/>
          </p:nvPr>
        </p:nvSpPr>
        <p:spPr/>
        <p:txBody>
          <a:bodyPr/>
          <a:lstStyle/>
          <a:p>
            <a:fld id="{F9EA3036-3AA5-4C72-A939-1CFB9FF0298A}" type="slidenum">
              <a:rPr lang="en-IN" smtClean="0"/>
              <a:t>‹#›</a:t>
            </a:fld>
            <a:endParaRPr lang="en-IN"/>
          </a:p>
        </p:txBody>
      </p:sp>
    </p:spTree>
    <p:extLst>
      <p:ext uri="{BB962C8B-B14F-4D97-AF65-F5344CB8AC3E}">
        <p14:creationId xmlns:p14="http://schemas.microsoft.com/office/powerpoint/2010/main" val="751952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36727-3214-4473-EB80-AA6DE16ACE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5C7939-BC3D-E4D4-9D93-92E34AC1E0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B67645-CCB0-2B32-5632-11FEFD85C1B7}"/>
              </a:ext>
            </a:extLst>
          </p:cNvPr>
          <p:cNvSpPr>
            <a:spLocks noGrp="1"/>
          </p:cNvSpPr>
          <p:nvPr>
            <p:ph type="dt" sz="half" idx="10"/>
          </p:nvPr>
        </p:nvSpPr>
        <p:spPr/>
        <p:txBody>
          <a:bodyPr/>
          <a:lstStyle/>
          <a:p>
            <a:fld id="{9696CF86-67EA-414C-93C4-B412F26DB762}" type="datetimeFigureOut">
              <a:rPr lang="en-IN" smtClean="0"/>
              <a:t>08-04-2026</a:t>
            </a:fld>
            <a:endParaRPr lang="en-IN"/>
          </a:p>
        </p:txBody>
      </p:sp>
      <p:sp>
        <p:nvSpPr>
          <p:cNvPr id="5" name="Footer Placeholder 4">
            <a:extLst>
              <a:ext uri="{FF2B5EF4-FFF2-40B4-BE49-F238E27FC236}">
                <a16:creationId xmlns:a16="http://schemas.microsoft.com/office/drawing/2014/main" id="{6F3B02D3-CA2B-133F-32E7-2623732CF6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01B450-6E03-074D-8756-D712FB016E04}"/>
              </a:ext>
            </a:extLst>
          </p:cNvPr>
          <p:cNvSpPr>
            <a:spLocks noGrp="1"/>
          </p:cNvSpPr>
          <p:nvPr>
            <p:ph type="sldNum" sz="quarter" idx="12"/>
          </p:nvPr>
        </p:nvSpPr>
        <p:spPr/>
        <p:txBody>
          <a:bodyPr/>
          <a:lstStyle/>
          <a:p>
            <a:fld id="{F9EA3036-3AA5-4C72-A939-1CFB9FF0298A}" type="slidenum">
              <a:rPr lang="en-IN" smtClean="0"/>
              <a:t>‹#›</a:t>
            </a:fld>
            <a:endParaRPr lang="en-IN"/>
          </a:p>
        </p:txBody>
      </p:sp>
    </p:spTree>
    <p:extLst>
      <p:ext uri="{BB962C8B-B14F-4D97-AF65-F5344CB8AC3E}">
        <p14:creationId xmlns:p14="http://schemas.microsoft.com/office/powerpoint/2010/main" val="573322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04093F-9746-AE79-18DF-46261DD40C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32A0E9-EE3E-723F-8032-DAF3372D56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3ACB21-A010-7946-2BC2-1816C907470A}"/>
              </a:ext>
            </a:extLst>
          </p:cNvPr>
          <p:cNvSpPr>
            <a:spLocks noGrp="1"/>
          </p:cNvSpPr>
          <p:nvPr>
            <p:ph type="dt" sz="half" idx="10"/>
          </p:nvPr>
        </p:nvSpPr>
        <p:spPr/>
        <p:txBody>
          <a:bodyPr/>
          <a:lstStyle/>
          <a:p>
            <a:fld id="{9696CF86-67EA-414C-93C4-B412F26DB762}" type="datetimeFigureOut">
              <a:rPr lang="en-IN" smtClean="0"/>
              <a:t>08-04-2026</a:t>
            </a:fld>
            <a:endParaRPr lang="en-IN"/>
          </a:p>
        </p:txBody>
      </p:sp>
      <p:sp>
        <p:nvSpPr>
          <p:cNvPr id="5" name="Footer Placeholder 4">
            <a:extLst>
              <a:ext uri="{FF2B5EF4-FFF2-40B4-BE49-F238E27FC236}">
                <a16:creationId xmlns:a16="http://schemas.microsoft.com/office/drawing/2014/main" id="{A2C3D38A-8E14-9251-AECA-66754144E1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276448-F152-82CB-AE62-8EB3AF74B7DC}"/>
              </a:ext>
            </a:extLst>
          </p:cNvPr>
          <p:cNvSpPr>
            <a:spLocks noGrp="1"/>
          </p:cNvSpPr>
          <p:nvPr>
            <p:ph type="sldNum" sz="quarter" idx="12"/>
          </p:nvPr>
        </p:nvSpPr>
        <p:spPr/>
        <p:txBody>
          <a:bodyPr/>
          <a:lstStyle/>
          <a:p>
            <a:fld id="{F9EA3036-3AA5-4C72-A939-1CFB9FF0298A}" type="slidenum">
              <a:rPr lang="en-IN" smtClean="0"/>
              <a:t>‹#›</a:t>
            </a:fld>
            <a:endParaRPr lang="en-IN"/>
          </a:p>
        </p:txBody>
      </p:sp>
    </p:spTree>
    <p:extLst>
      <p:ext uri="{BB962C8B-B14F-4D97-AF65-F5344CB8AC3E}">
        <p14:creationId xmlns:p14="http://schemas.microsoft.com/office/powerpoint/2010/main" val="3230290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796A7A-B1A4-FF2B-AB19-B32F2794AC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C74A3C8-4EB7-1018-EF08-30C3016780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457E4A-EF2D-174D-22E2-E48F91B6CA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96CF86-67EA-414C-93C4-B412F26DB762}" type="datetimeFigureOut">
              <a:rPr lang="en-IN" smtClean="0"/>
              <a:t>08-04-2026</a:t>
            </a:fld>
            <a:endParaRPr lang="en-IN"/>
          </a:p>
        </p:txBody>
      </p:sp>
      <p:sp>
        <p:nvSpPr>
          <p:cNvPr id="5" name="Footer Placeholder 4">
            <a:extLst>
              <a:ext uri="{FF2B5EF4-FFF2-40B4-BE49-F238E27FC236}">
                <a16:creationId xmlns:a16="http://schemas.microsoft.com/office/drawing/2014/main" id="{D10890E8-CE0A-1E63-7A08-C8C0C8EC90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B6A44BB-7F79-3B8F-786F-C0A57E2A0D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EA3036-3AA5-4C72-A939-1CFB9FF0298A}" type="slidenum">
              <a:rPr lang="en-IN" smtClean="0"/>
              <a:t>‹#›</a:t>
            </a:fld>
            <a:endParaRPr lang="en-IN"/>
          </a:p>
        </p:txBody>
      </p:sp>
    </p:spTree>
    <p:extLst>
      <p:ext uri="{BB962C8B-B14F-4D97-AF65-F5344CB8AC3E}">
        <p14:creationId xmlns:p14="http://schemas.microsoft.com/office/powerpoint/2010/main" val="146110135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C72D73-7687-26DB-9AC4-3B3D3169971F}"/>
              </a:ext>
            </a:extLst>
          </p:cNvPr>
          <p:cNvSpPr txBox="1"/>
          <p:nvPr/>
        </p:nvSpPr>
        <p:spPr>
          <a:xfrm>
            <a:off x="2300748" y="304800"/>
            <a:ext cx="7639665" cy="646331"/>
          </a:xfrm>
          <a:prstGeom prst="rect">
            <a:avLst/>
          </a:prstGeom>
          <a:noFill/>
        </p:spPr>
        <p:txBody>
          <a:bodyPr wrap="square">
            <a:spAutoFit/>
          </a:bodyPr>
          <a:lstStyle/>
          <a:p>
            <a:pPr algn="ctr"/>
            <a:br>
              <a:rPr lang="en-US" sz="1800" b="0" i="0" dirty="0">
                <a:solidFill>
                  <a:schemeClr val="accent1"/>
                </a:solidFill>
                <a:effectLst/>
                <a:latin typeface="Segoe UI" panose="020B0502040204020203" pitchFamily="34" charset="0"/>
              </a:rPr>
            </a:br>
            <a:endParaRPr lang="en-IN" dirty="0">
              <a:solidFill>
                <a:schemeClr val="accent1"/>
              </a:solidFill>
            </a:endParaRPr>
          </a:p>
        </p:txBody>
      </p:sp>
      <p:sp>
        <p:nvSpPr>
          <p:cNvPr id="8" name="TextBox 7">
            <a:extLst>
              <a:ext uri="{FF2B5EF4-FFF2-40B4-BE49-F238E27FC236}">
                <a16:creationId xmlns:a16="http://schemas.microsoft.com/office/drawing/2014/main" id="{92B773AD-9D6B-89EB-F56D-67F3C4FFFD0C}"/>
              </a:ext>
            </a:extLst>
          </p:cNvPr>
          <p:cNvSpPr txBox="1"/>
          <p:nvPr/>
        </p:nvSpPr>
        <p:spPr>
          <a:xfrm>
            <a:off x="924232" y="684937"/>
            <a:ext cx="10506075" cy="983283"/>
          </a:xfrm>
          <a:prstGeom prst="rect">
            <a:avLst/>
          </a:prstGeom>
          <a:noFill/>
        </p:spPr>
        <p:txBody>
          <a:bodyPr wrap="square">
            <a:spAutoFit/>
          </a:bodyPr>
          <a:lstStyle/>
          <a:p>
            <a:pPr algn="ctr">
              <a:lnSpc>
                <a:spcPct val="107000"/>
              </a:lnSpc>
              <a:spcAft>
                <a:spcPts val="800"/>
              </a:spcAft>
              <a:buNone/>
            </a:pPr>
            <a:r>
              <a:rPr lang="en-IN" sz="2800" b="1" kern="100" dirty="0">
                <a:solidFill>
                  <a:srgbClr val="FF0066"/>
                </a:solidFill>
                <a:effectLst/>
                <a:latin typeface="Times New Roman" panose="02020603050405020304" pitchFamily="18" charset="0"/>
                <a:ea typeface="Calibri" panose="020F0502020204030204" pitchFamily="34" charset="0"/>
                <a:cs typeface="Times New Roman" panose="02020603050405020304" pitchFamily="18" charset="0"/>
              </a:rPr>
              <a:t>Exploring the Fusion Potentials of Data Visualization and Data Analytics in the Process of Mining Digitalization</a:t>
            </a:r>
            <a:endParaRPr lang="en-IN" sz="2800" kern="100" dirty="0">
              <a:solidFill>
                <a:srgbClr val="FF0066"/>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Subtitle 9">
            <a:extLst>
              <a:ext uri="{FF2B5EF4-FFF2-40B4-BE49-F238E27FC236}">
                <a16:creationId xmlns:a16="http://schemas.microsoft.com/office/drawing/2014/main" id="{C881AE08-5288-8F7A-48C8-4C4273871DA0}"/>
              </a:ext>
            </a:extLst>
          </p:cNvPr>
          <p:cNvSpPr>
            <a:spLocks noGrp="1"/>
          </p:cNvSpPr>
          <p:nvPr>
            <p:ph type="subTitle" idx="1"/>
          </p:nvPr>
        </p:nvSpPr>
        <p:spPr>
          <a:xfrm>
            <a:off x="1524000" y="2192594"/>
            <a:ext cx="9144000" cy="3065206"/>
          </a:xfrm>
        </p:spPr>
        <p:txBody>
          <a:bodyPr>
            <a:normAutofit/>
          </a:bodyPr>
          <a:lstStyle/>
          <a:p>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dirty="0"/>
          </a:p>
        </p:txBody>
      </p:sp>
      <p:sp>
        <p:nvSpPr>
          <p:cNvPr id="12" name="TextBox 11">
            <a:extLst>
              <a:ext uri="{FF2B5EF4-FFF2-40B4-BE49-F238E27FC236}">
                <a16:creationId xmlns:a16="http://schemas.microsoft.com/office/drawing/2014/main" id="{6B9C00D5-1414-89C2-7F66-567718C7C7A8}"/>
              </a:ext>
            </a:extLst>
          </p:cNvPr>
          <p:cNvSpPr txBox="1"/>
          <p:nvPr/>
        </p:nvSpPr>
        <p:spPr>
          <a:xfrm>
            <a:off x="924232" y="1834607"/>
            <a:ext cx="10506075" cy="1142300"/>
          </a:xfrm>
          <a:prstGeom prst="rect">
            <a:avLst/>
          </a:prstGeom>
          <a:noFill/>
        </p:spPr>
        <p:txBody>
          <a:bodyPr wrap="square">
            <a:spAutoFit/>
          </a:bodyPr>
          <a:lstStyle/>
          <a:p>
            <a:pPr algn="ctr" rtl="0" fontAlgn="base">
              <a:lnSpc>
                <a:spcPts val="1491"/>
              </a:lnSpc>
              <a:spcAft>
                <a:spcPts val="15"/>
              </a:spcAft>
            </a:pPr>
            <a:endParaRPr lang="en-IN" b="1" i="0" dirty="0">
              <a:solidFill>
                <a:srgbClr val="000000"/>
              </a:solidFill>
              <a:effectLst/>
              <a:latin typeface="Times New Roman" panose="02020603050405020304" pitchFamily="18" charset="0"/>
            </a:endParaRPr>
          </a:p>
          <a:p>
            <a:pPr algn="l" rtl="0" fontAlgn="base">
              <a:lnSpc>
                <a:spcPts val="1457"/>
              </a:lnSpc>
              <a:spcAft>
                <a:spcPts val="990"/>
              </a:spcAft>
            </a:pPr>
            <a:endParaRPr lang="en-IN" b="1" i="0" dirty="0">
              <a:solidFill>
                <a:srgbClr val="000000"/>
              </a:solidFill>
              <a:effectLst/>
              <a:latin typeface="Times New Roman" panose="02020603050405020304" pitchFamily="18" charset="0"/>
            </a:endParaRPr>
          </a:p>
          <a:p>
            <a:pPr rtl="0" fontAlgn="base">
              <a:lnSpc>
                <a:spcPts val="1457"/>
              </a:lnSpc>
              <a:spcAft>
                <a:spcPts val="990"/>
              </a:spcAft>
            </a:pPr>
            <a:r>
              <a:rPr lang="en-IN" sz="2800" b="1" i="0" dirty="0">
                <a:solidFill>
                  <a:srgbClr val="000000"/>
                </a:solidFill>
                <a:effectLst/>
                <a:latin typeface="Times New Roman" panose="02020603050405020304" pitchFamily="18" charset="0"/>
              </a:rPr>
              <a:t>                                            Subm</a:t>
            </a:r>
            <a:r>
              <a:rPr lang="en-IN" sz="2800" b="1" dirty="0">
                <a:solidFill>
                  <a:srgbClr val="000000"/>
                </a:solidFill>
                <a:latin typeface="Times New Roman" panose="02020603050405020304" pitchFamily="18" charset="0"/>
              </a:rPr>
              <a:t>itted by</a:t>
            </a:r>
          </a:p>
          <a:p>
            <a:pPr rtl="0" fontAlgn="base">
              <a:lnSpc>
                <a:spcPts val="1457"/>
              </a:lnSpc>
              <a:spcAft>
                <a:spcPts val="990"/>
              </a:spcAft>
            </a:pPr>
            <a:r>
              <a:rPr lang="en-IN" sz="2000" b="1" dirty="0">
                <a:solidFill>
                  <a:srgbClr val="FF0000"/>
                </a:solidFill>
                <a:latin typeface="Times New Roman" panose="02020603050405020304" pitchFamily="18" charset="0"/>
              </a:rPr>
              <a:t>                                                                   K. Akshaya</a:t>
            </a:r>
          </a:p>
        </p:txBody>
      </p:sp>
    </p:spTree>
    <p:extLst>
      <p:ext uri="{BB962C8B-B14F-4D97-AF65-F5344CB8AC3E}">
        <p14:creationId xmlns:p14="http://schemas.microsoft.com/office/powerpoint/2010/main" val="2832518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1D0D57-F6AC-2F70-E972-A0450DB2FE37}"/>
              </a:ext>
            </a:extLst>
          </p:cNvPr>
          <p:cNvSpPr txBox="1"/>
          <p:nvPr/>
        </p:nvSpPr>
        <p:spPr>
          <a:xfrm>
            <a:off x="531368" y="327376"/>
            <a:ext cx="4005072" cy="4012893"/>
          </a:xfrm>
          <a:prstGeom prst="rect">
            <a:avLst/>
          </a:prstGeom>
          <a:noFill/>
        </p:spPr>
        <p:txBody>
          <a:bodyPr wrap="square">
            <a:spAutoFit/>
          </a:bodyPr>
          <a:lstStyle/>
          <a:p>
            <a:pPr algn="ctr" fontAlgn="base">
              <a:lnSpc>
                <a:spcPct val="150000"/>
              </a:lnSpc>
              <a:spcAft>
                <a:spcPts val="15"/>
              </a:spcAft>
            </a:pPr>
            <a:r>
              <a:rPr lang="en-US" sz="2800" b="1" i="0" u="sng" dirty="0">
                <a:solidFill>
                  <a:srgbClr val="000000"/>
                </a:solidFill>
                <a:effectLst/>
                <a:latin typeface="Times New Roman" panose="02020603050405020304" pitchFamily="18" charset="0"/>
              </a:rPr>
              <a:t>List of Contents</a:t>
            </a:r>
            <a:endParaRPr lang="en-US" sz="2800" b="0" i="0" dirty="0">
              <a:solidFill>
                <a:srgbClr val="000000"/>
              </a:solidFill>
              <a:effectLst/>
              <a:latin typeface="Times New Roman" panose="02020603050405020304" pitchFamily="18" charset="0"/>
            </a:endParaRPr>
          </a:p>
          <a:p>
            <a:pPr marL="285750" indent="-285750" algn="just" rtl="0" fontAlgn="base">
              <a:lnSpc>
                <a:spcPct val="150000"/>
              </a:lnSpc>
              <a:buFont typeface="Wingdings" panose="05000000000000000000" pitchFamily="2" charset="2"/>
              <a:buChar char="Ø"/>
            </a:pPr>
            <a:r>
              <a:rPr lang="en-US" b="0" i="0" dirty="0">
                <a:solidFill>
                  <a:srgbClr val="000000"/>
                </a:solidFill>
                <a:effectLst/>
                <a:latin typeface="Times New Roman" panose="02020603050405020304" pitchFamily="18" charset="0"/>
                <a:cs typeface="Times New Roman" panose="02020603050405020304" pitchFamily="18" charset="0"/>
              </a:rPr>
              <a:t>Abstract</a:t>
            </a:r>
          </a:p>
          <a:p>
            <a:pPr marL="285750" indent="-285750" algn="just" rtl="0" fontAlgn="base">
              <a:lnSpc>
                <a:spcPct val="150000"/>
              </a:lnSpc>
              <a:buFont typeface="Wingdings" panose="05000000000000000000" pitchFamily="2" charset="2"/>
              <a:buChar char="Ø"/>
            </a:pPr>
            <a:r>
              <a:rPr lang="en-US" dirty="0">
                <a:solidFill>
                  <a:srgbClr val="000000"/>
                </a:solidFill>
                <a:latin typeface="Times New Roman" panose="02020603050405020304" pitchFamily="18" charset="0"/>
                <a:cs typeface="Times New Roman" panose="02020603050405020304" pitchFamily="18" charset="0"/>
              </a:rPr>
              <a:t>Introduction</a:t>
            </a:r>
          </a:p>
          <a:p>
            <a:pPr marL="285750" indent="-285750" algn="just" rtl="0" fontAlgn="base">
              <a:lnSpc>
                <a:spcPct val="150000"/>
              </a:lnSpc>
              <a:buFont typeface="Wingdings" panose="05000000000000000000" pitchFamily="2" charset="2"/>
              <a:buChar char="Ø"/>
            </a:pPr>
            <a:r>
              <a:rPr lang="en-US" b="0" i="0" dirty="0">
                <a:solidFill>
                  <a:srgbClr val="000000"/>
                </a:solidFill>
                <a:effectLst/>
                <a:latin typeface="Times New Roman" panose="02020603050405020304" pitchFamily="18" charset="0"/>
                <a:cs typeface="Times New Roman" panose="02020603050405020304" pitchFamily="18" charset="0"/>
              </a:rPr>
              <a:t>Existing system</a:t>
            </a:r>
            <a:endParaRPr lang="en-US" dirty="0">
              <a:solidFill>
                <a:srgbClr val="000000"/>
              </a:solidFill>
              <a:latin typeface="Times New Roman" panose="02020603050405020304" pitchFamily="18" charset="0"/>
              <a:cs typeface="Times New Roman" panose="02020603050405020304" pitchFamily="18" charset="0"/>
            </a:endParaRPr>
          </a:p>
          <a:p>
            <a:pPr marL="285750" indent="-285750" algn="just" rtl="0" fontAlgn="base">
              <a:lnSpc>
                <a:spcPct val="150000"/>
              </a:lnSpc>
              <a:buFont typeface="Wingdings" panose="05000000000000000000" pitchFamily="2" charset="2"/>
              <a:buChar char="Ø"/>
            </a:pPr>
            <a:r>
              <a:rPr lang="en-US" b="0" i="0" dirty="0">
                <a:solidFill>
                  <a:srgbClr val="000000"/>
                </a:solidFill>
                <a:effectLst/>
                <a:latin typeface="Times New Roman" panose="02020603050405020304" pitchFamily="18" charset="0"/>
                <a:cs typeface="Times New Roman" panose="02020603050405020304" pitchFamily="18" charset="0"/>
              </a:rPr>
              <a:t>Proposed system</a:t>
            </a:r>
          </a:p>
          <a:p>
            <a:pPr marL="285750" indent="-285750" algn="just" rtl="0" fontAlgn="base">
              <a:lnSpc>
                <a:spcPct val="150000"/>
              </a:lnSpc>
              <a:buFont typeface="Wingdings" panose="05000000000000000000" pitchFamily="2" charset="2"/>
              <a:buChar char="Ø"/>
            </a:pPr>
            <a:r>
              <a:rPr lang="en-US" dirty="0">
                <a:solidFill>
                  <a:srgbClr val="000000"/>
                </a:solidFill>
                <a:latin typeface="Times New Roman" panose="02020603050405020304" pitchFamily="18" charset="0"/>
                <a:cs typeface="Times New Roman" panose="02020603050405020304" pitchFamily="18" charset="0"/>
              </a:rPr>
              <a:t>Advantages</a:t>
            </a:r>
            <a:endParaRPr lang="en-US" b="0" i="0" dirty="0">
              <a:solidFill>
                <a:srgbClr val="000000"/>
              </a:solidFill>
              <a:effectLst/>
              <a:latin typeface="Times New Roman" panose="02020603050405020304" pitchFamily="18" charset="0"/>
              <a:cs typeface="Times New Roman" panose="02020603050405020304" pitchFamily="18" charset="0"/>
            </a:endParaRPr>
          </a:p>
          <a:p>
            <a:pPr marL="285750" indent="-285750" algn="just" rtl="0" fontAlgn="base">
              <a:lnSpc>
                <a:spcPct val="150000"/>
              </a:lnSpc>
              <a:buFont typeface="Wingdings" panose="05000000000000000000" pitchFamily="2" charset="2"/>
              <a:buChar char="Ø"/>
            </a:pPr>
            <a:r>
              <a:rPr lang="en-US" dirty="0">
                <a:solidFill>
                  <a:srgbClr val="000000"/>
                </a:solidFill>
                <a:latin typeface="Times New Roman" panose="02020603050405020304" pitchFamily="18" charset="0"/>
                <a:cs typeface="Times New Roman" panose="02020603050405020304" pitchFamily="18" charset="0"/>
              </a:rPr>
              <a:t>Software Requirements</a:t>
            </a:r>
          </a:p>
          <a:p>
            <a:pPr marL="285750" indent="-285750" algn="just" rtl="0" fontAlgn="base">
              <a:lnSpc>
                <a:spcPct val="150000"/>
              </a:lnSpc>
              <a:buFont typeface="Wingdings" panose="05000000000000000000" pitchFamily="2" charset="2"/>
              <a:buChar char="Ø"/>
            </a:pPr>
            <a:r>
              <a:rPr lang="en-US" dirty="0">
                <a:solidFill>
                  <a:srgbClr val="000000"/>
                </a:solidFill>
                <a:latin typeface="Times New Roman" panose="02020603050405020304" pitchFamily="18" charset="0"/>
                <a:cs typeface="Times New Roman" panose="02020603050405020304" pitchFamily="18" charset="0"/>
              </a:rPr>
              <a:t>Hardware Requirements </a:t>
            </a:r>
          </a:p>
          <a:p>
            <a:pPr marL="285750" indent="-285750" algn="just" rtl="0" fontAlgn="base">
              <a:lnSpc>
                <a:spcPct val="150000"/>
              </a:lnSpc>
              <a:buFont typeface="Wingdings" panose="05000000000000000000" pitchFamily="2" charset="2"/>
              <a:buChar char="Ø"/>
            </a:pPr>
            <a:r>
              <a:rPr lang="en-US" b="0" i="0" dirty="0">
                <a:solidFill>
                  <a:srgbClr val="000000"/>
                </a:solidFill>
                <a:effectLst/>
                <a:latin typeface="Times New Roman" panose="02020603050405020304" pitchFamily="18" charset="0"/>
                <a:cs typeface="Times New Roman" panose="02020603050405020304" pitchFamily="18" charset="0"/>
              </a:rPr>
              <a:t>Conclusion </a:t>
            </a:r>
          </a:p>
        </p:txBody>
      </p:sp>
    </p:spTree>
    <p:extLst>
      <p:ext uri="{BB962C8B-B14F-4D97-AF65-F5344CB8AC3E}">
        <p14:creationId xmlns:p14="http://schemas.microsoft.com/office/powerpoint/2010/main" val="1474959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C5AEBD-1AE9-A8B2-0A59-1CDD40D67996}"/>
              </a:ext>
            </a:extLst>
          </p:cNvPr>
          <p:cNvSpPr txBox="1"/>
          <p:nvPr/>
        </p:nvSpPr>
        <p:spPr>
          <a:xfrm>
            <a:off x="528320" y="502328"/>
            <a:ext cx="10570464" cy="531749"/>
          </a:xfrm>
          <a:prstGeom prst="rect">
            <a:avLst/>
          </a:prstGeom>
          <a:noFill/>
        </p:spPr>
        <p:txBody>
          <a:bodyPr wrap="square">
            <a:spAutoFit/>
          </a:bodyPr>
          <a:lstStyle/>
          <a:p>
            <a:pPr algn="just" rtl="0" fontAlgn="base">
              <a:lnSpc>
                <a:spcPts val="3668"/>
              </a:lnSpc>
              <a:spcAft>
                <a:spcPts val="15"/>
              </a:spcAft>
            </a:pPr>
            <a:r>
              <a:rPr lang="en-US" sz="2800" b="1" i="0" u="sng" dirty="0">
                <a:solidFill>
                  <a:srgbClr val="000000"/>
                </a:solidFill>
                <a:effectLst/>
                <a:latin typeface="Times New Roman" panose="02020603050405020304" pitchFamily="18" charset="0"/>
              </a:rPr>
              <a:t>ABSTRACT</a:t>
            </a:r>
            <a:r>
              <a:rPr lang="en-US" sz="2800" b="0" i="0" dirty="0">
                <a:solidFill>
                  <a:srgbClr val="000000"/>
                </a:solidFill>
                <a:effectLst/>
                <a:latin typeface="Times New Roman" panose="02020603050405020304" pitchFamily="18" charset="0"/>
              </a:rPr>
              <a:t>          </a:t>
            </a:r>
            <a:r>
              <a:rPr lang="en-US" b="0" i="0" dirty="0">
                <a:solidFill>
                  <a:srgbClr val="000000"/>
                </a:solidFill>
                <a:effectLst/>
                <a:latin typeface="Times New Roman" panose="02020603050405020304" pitchFamily="18" charset="0"/>
              </a:rPr>
              <a:t>       </a:t>
            </a:r>
            <a:r>
              <a:rPr lang="en-US" sz="1800" b="0" i="0" dirty="0">
                <a:solidFill>
                  <a:srgbClr val="000000"/>
                </a:solidFill>
                <a:effectLst/>
                <a:latin typeface="Times New Roman" panose="02020603050405020304" pitchFamily="18" charset="0"/>
              </a:rPr>
              <a:t>                            </a:t>
            </a:r>
            <a:r>
              <a:rPr lang="en-US" sz="2800" b="0" i="0" dirty="0">
                <a:solidFill>
                  <a:srgbClr val="000000"/>
                </a:solidFill>
                <a:effectLst/>
                <a:latin typeface="Times New Roman" panose="02020603050405020304" pitchFamily="18" charset="0"/>
              </a:rPr>
              <a:t> </a:t>
            </a:r>
            <a:endParaRPr lang="en-US" b="0" i="0" dirty="0">
              <a:solidFill>
                <a:srgbClr val="000000"/>
              </a:solidFill>
              <a:effectLst/>
              <a:latin typeface="Segoe UI" panose="020B0502040204020203" pitchFamily="34" charset="0"/>
            </a:endParaRPr>
          </a:p>
        </p:txBody>
      </p:sp>
      <p:sp>
        <p:nvSpPr>
          <p:cNvPr id="4" name="TextBox 3">
            <a:extLst>
              <a:ext uri="{FF2B5EF4-FFF2-40B4-BE49-F238E27FC236}">
                <a16:creationId xmlns:a16="http://schemas.microsoft.com/office/drawing/2014/main" id="{C93FB907-238C-64F3-BBDD-7E356939C16C}"/>
              </a:ext>
            </a:extLst>
          </p:cNvPr>
          <p:cNvSpPr txBox="1"/>
          <p:nvPr/>
        </p:nvSpPr>
        <p:spPr>
          <a:xfrm>
            <a:off x="528320" y="1178561"/>
            <a:ext cx="10764520" cy="2956387"/>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Mining is becoming more digital by using new technologies like sensors, automation, and the Internet of Things (IoT). These tools collect a lot of data, but it's still hard to use that data in the best way. This paper looks at how data visualization (turning data into charts, graphs, etc.) and data analytics (analyzing data to find patterns) can work together to help the mining industry. We review current research on data visualization types, data management, and digital twins (virtual models of real mining systems). We also look at how machine learning can help combine data from different sources. In the end, we talk about the main challenges and what could be done in the future to improve how data is used </a:t>
            </a:r>
            <a:r>
              <a:rPr lang="en-US" dirty="0"/>
              <a:t>in mining.</a:t>
            </a:r>
            <a:endParaRPr lang="en-IN" dirty="0"/>
          </a:p>
        </p:txBody>
      </p:sp>
    </p:spTree>
    <p:extLst>
      <p:ext uri="{BB962C8B-B14F-4D97-AF65-F5344CB8AC3E}">
        <p14:creationId xmlns:p14="http://schemas.microsoft.com/office/powerpoint/2010/main" val="3982987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93F0E0-B19D-F2A5-4C44-DA38597E73F6}"/>
              </a:ext>
            </a:extLst>
          </p:cNvPr>
          <p:cNvSpPr txBox="1"/>
          <p:nvPr/>
        </p:nvSpPr>
        <p:spPr>
          <a:xfrm>
            <a:off x="241166" y="459256"/>
            <a:ext cx="9978191" cy="3744615"/>
          </a:xfrm>
          <a:prstGeom prst="rect">
            <a:avLst/>
          </a:prstGeom>
          <a:noFill/>
        </p:spPr>
        <p:txBody>
          <a:bodyPr wrap="square">
            <a:spAutoFit/>
          </a:bodyPr>
          <a:lstStyle/>
          <a:p>
            <a:pPr algn="just" rtl="0" fontAlgn="base">
              <a:lnSpc>
                <a:spcPts val="3668"/>
              </a:lnSpc>
            </a:pPr>
            <a:r>
              <a:rPr lang="en-US" sz="2800" b="1" i="0" u="sng" dirty="0">
                <a:solidFill>
                  <a:srgbClr val="000000"/>
                </a:solidFill>
                <a:effectLst/>
                <a:latin typeface="Times New Roman" panose="02020603050405020304" pitchFamily="18" charset="0"/>
              </a:rPr>
              <a:t>INTRODUCTION</a:t>
            </a:r>
            <a:endParaRPr lang="en-US" sz="2800" b="1" i="0" dirty="0">
              <a:solidFill>
                <a:srgbClr val="000000"/>
              </a:solidFill>
              <a:effectLst/>
              <a:latin typeface="Times New Roman" panose="02020603050405020304" pitchFamily="18" charset="0"/>
            </a:endParaRPr>
          </a:p>
          <a:p>
            <a:pPr algn="just" rtl="0" fontAlgn="base">
              <a:lnSpc>
                <a:spcPct val="150000"/>
              </a:lnSpc>
              <a:spcAft>
                <a:spcPts val="15"/>
              </a:spcAft>
            </a:pPr>
            <a:r>
              <a:rPr lang="en-US" sz="1800" b="0" i="0" dirty="0">
                <a:solidFill>
                  <a:srgbClr val="000000"/>
                </a:solidFill>
                <a:effectLst/>
                <a:latin typeface="Times New Roman" panose="02020603050405020304" pitchFamily="18" charset="0"/>
              </a:rPr>
              <a:t> </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The mining industry is increasingly adopting advanced technologies like IoT, automation, and sensing to collect vast amounts of data. However, effectively utilizing this data to enhance operations remains a challenge. This paper reviews key topics related to the integration of data visualization, management, analytics, and fusion in the mining industry. It explores the role of digital twins, the evolution of data visualization techniques, and the potential of machine learning for data fusion applications. The aim is to highlight the challenges and opportunities of data fusion in mining, drawing insights from recent academic research to promote efficient, data-driven decision-making.</a:t>
            </a:r>
          </a:p>
          <a:p>
            <a:pPr algn="just" rtl="0" fontAlgn="base">
              <a:lnSpc>
                <a:spcPts val="2133"/>
              </a:lnSpc>
              <a:spcAft>
                <a:spcPts val="15"/>
              </a:spcAft>
            </a:pPr>
            <a:endParaRPr lang="en-US" b="0" i="0" dirty="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3834231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61ACFF-7DAE-1D4C-A5A9-A904A5C85C41}"/>
              </a:ext>
            </a:extLst>
          </p:cNvPr>
          <p:cNvSpPr txBox="1"/>
          <p:nvPr/>
        </p:nvSpPr>
        <p:spPr>
          <a:xfrm>
            <a:off x="305197" y="362585"/>
            <a:ext cx="9144000" cy="1935402"/>
          </a:xfrm>
          <a:prstGeom prst="rect">
            <a:avLst/>
          </a:prstGeom>
          <a:noFill/>
        </p:spPr>
        <p:txBody>
          <a:bodyPr wrap="square">
            <a:spAutoFit/>
          </a:bodyPr>
          <a:lstStyle/>
          <a:p>
            <a:pPr algn="just" rtl="0" fontAlgn="base">
              <a:lnSpc>
                <a:spcPct val="150000"/>
              </a:lnSpc>
              <a:spcAft>
                <a:spcPts val="15"/>
              </a:spcAft>
            </a:pPr>
            <a:r>
              <a:rPr lang="en-US" sz="2800" b="1" u="sng" dirty="0">
                <a:solidFill>
                  <a:srgbClr val="000000"/>
                </a:solidFill>
                <a:latin typeface="Times New Roman" panose="02020603050405020304" pitchFamily="18" charset="0"/>
                <a:cs typeface="Times New Roman" panose="02020603050405020304" pitchFamily="18" charset="0"/>
              </a:rPr>
              <a:t>Existing System</a:t>
            </a:r>
            <a:r>
              <a:rPr lang="en-US" sz="2800" b="0" i="0" dirty="0">
                <a:solidFill>
                  <a:srgbClr val="000000"/>
                </a:solidFill>
                <a:effectLst/>
                <a:latin typeface="Times New Roman" panose="02020603050405020304" pitchFamily="18" charset="0"/>
                <a:cs typeface="Times New Roman" panose="02020603050405020304" pitchFamily="18" charset="0"/>
              </a:rPr>
              <a:t> </a:t>
            </a:r>
          </a:p>
          <a:p>
            <a:pPr algn="just" rtl="0" fontAlgn="base">
              <a:lnSpc>
                <a:spcPct val="150000"/>
              </a:lnSpc>
              <a:spcAft>
                <a:spcPts val="15"/>
              </a:spcAft>
            </a:pPr>
            <a:r>
              <a:rPr lang="en-US" b="0" i="0" dirty="0">
                <a:solidFill>
                  <a:srgbClr val="000000"/>
                </a:solidFill>
                <a:effectLst/>
                <a:latin typeface="Times New Roman" panose="02020603050405020304" pitchFamily="18" charset="0"/>
                <a:cs typeface="Times New Roman" panose="02020603050405020304" pitchFamily="18" charset="0"/>
              </a:rPr>
              <a:t>The existing system in many mining operations is manual or semi-digital, with limited use of data analytics and basic or no visualization tools. This leads to inefficiencies, delays, and missed opportunities for smarter and safer operations. </a:t>
            </a:r>
          </a:p>
        </p:txBody>
      </p:sp>
      <p:sp>
        <p:nvSpPr>
          <p:cNvPr id="5" name="TextBox 4">
            <a:extLst>
              <a:ext uri="{FF2B5EF4-FFF2-40B4-BE49-F238E27FC236}">
                <a16:creationId xmlns:a16="http://schemas.microsoft.com/office/drawing/2014/main" id="{E463609D-50F7-F106-70F5-392A81FA8C1F}"/>
              </a:ext>
            </a:extLst>
          </p:cNvPr>
          <p:cNvSpPr txBox="1"/>
          <p:nvPr/>
        </p:nvSpPr>
        <p:spPr>
          <a:xfrm>
            <a:off x="508000" y="2665392"/>
            <a:ext cx="8493760" cy="2862322"/>
          </a:xfrm>
          <a:prstGeom prst="rect">
            <a:avLst/>
          </a:prstGeom>
          <a:noFill/>
        </p:spPr>
        <p:txBody>
          <a:bodyPr wrap="square">
            <a:spAutoFit/>
          </a:bodyPr>
          <a:lstStyle/>
          <a:p>
            <a:pPr marL="342900" indent="-342900">
              <a:lnSpc>
                <a:spcPct val="150000"/>
              </a:lnSpc>
              <a:buAutoNum type="arabicPeriod"/>
            </a:pPr>
            <a:r>
              <a:rPr lang="en-IN" b="1" dirty="0">
                <a:latin typeface="Times New Roman" panose="02020603050405020304" pitchFamily="18" charset="0"/>
                <a:cs typeface="Times New Roman" panose="02020603050405020304" pitchFamily="18" charset="0"/>
              </a:rPr>
              <a:t>Data collection </a:t>
            </a:r>
            <a:r>
              <a:rPr lang="en-IN" dirty="0">
                <a:latin typeface="Times New Roman" panose="02020603050405020304" pitchFamily="18" charset="0"/>
                <a:cs typeface="Times New Roman" panose="02020603050405020304" pitchFamily="18" charset="0"/>
              </a:rPr>
              <a:t>– Sensors and machines collect data but remain siloed.</a:t>
            </a:r>
          </a:p>
          <a:p>
            <a:pPr marL="342900" indent="-342900">
              <a:lnSpc>
                <a:spcPct val="150000"/>
              </a:lnSpc>
              <a:buAutoNum type="arabicPeriod"/>
            </a:pPr>
            <a:r>
              <a:rPr lang="en-IN" b="1" dirty="0">
                <a:latin typeface="Times New Roman" panose="02020603050405020304" pitchFamily="18" charset="0"/>
                <a:cs typeface="Times New Roman" panose="02020603050405020304" pitchFamily="18" charset="0"/>
              </a:rPr>
              <a:t>Basic storage </a:t>
            </a:r>
            <a:r>
              <a:rPr lang="en-IN" dirty="0">
                <a:latin typeface="Times New Roman" panose="02020603050405020304" pitchFamily="18" charset="0"/>
                <a:cs typeface="Times New Roman" panose="02020603050405020304" pitchFamily="18" charset="0"/>
              </a:rPr>
              <a:t>– Data stored in databases, but poorly integrated.</a:t>
            </a:r>
          </a:p>
          <a:p>
            <a:pPr marL="342900" indent="-342900">
              <a:lnSpc>
                <a:spcPct val="150000"/>
              </a:lnSpc>
              <a:buAutoNum type="arabicPeriod"/>
            </a:pPr>
            <a:r>
              <a:rPr lang="en-IN" b="1" dirty="0">
                <a:latin typeface="Times New Roman" panose="02020603050405020304" pitchFamily="18" charset="0"/>
                <a:cs typeface="Times New Roman" panose="02020603050405020304" pitchFamily="18" charset="0"/>
              </a:rPr>
              <a:t>Static reports </a:t>
            </a:r>
            <a:r>
              <a:rPr lang="en-IN" dirty="0">
                <a:latin typeface="Times New Roman" panose="02020603050405020304" pitchFamily="18" charset="0"/>
                <a:cs typeface="Times New Roman" panose="02020603050405020304" pitchFamily="18" charset="0"/>
              </a:rPr>
              <a:t>– Simple dashboards and reports are generated.</a:t>
            </a:r>
          </a:p>
          <a:p>
            <a:pPr marL="342900" indent="-342900">
              <a:lnSpc>
                <a:spcPct val="150000"/>
              </a:lnSpc>
              <a:buAutoNum type="arabicPeriod"/>
            </a:pPr>
            <a:r>
              <a:rPr lang="en-IN" b="1" dirty="0">
                <a:latin typeface="Times New Roman" panose="02020603050405020304" pitchFamily="18" charset="0"/>
                <a:cs typeface="Times New Roman" panose="02020603050405020304" pitchFamily="18" charset="0"/>
              </a:rPr>
              <a:t>Limited analytics </a:t>
            </a:r>
            <a:r>
              <a:rPr lang="en-IN" dirty="0">
                <a:latin typeface="Times New Roman" panose="02020603050405020304" pitchFamily="18" charset="0"/>
                <a:cs typeface="Times New Roman" panose="02020603050405020304" pitchFamily="18" charset="0"/>
              </a:rPr>
              <a:t>– Only descriptive and some diagnostic insights.</a:t>
            </a:r>
          </a:p>
          <a:p>
            <a:pPr marL="342900" indent="-342900">
              <a:lnSpc>
                <a:spcPct val="150000"/>
              </a:lnSpc>
              <a:buAutoNum type="arabicPeriod"/>
            </a:pPr>
            <a:r>
              <a:rPr lang="en-IN" b="1" dirty="0">
                <a:latin typeface="Times New Roman" panose="02020603050405020304" pitchFamily="18" charset="0"/>
                <a:cs typeface="Times New Roman" panose="02020603050405020304" pitchFamily="18" charset="0"/>
              </a:rPr>
              <a:t>Basic visualization </a:t>
            </a:r>
            <a:r>
              <a:rPr lang="en-IN" dirty="0">
                <a:latin typeface="Times New Roman" panose="02020603050405020304" pitchFamily="18" charset="0"/>
                <a:cs typeface="Times New Roman" panose="02020603050405020304" pitchFamily="18" charset="0"/>
              </a:rPr>
              <a:t>– Mostly static charts and graphs, low interactivity.</a:t>
            </a:r>
          </a:p>
          <a:p>
            <a:pPr marL="342900" indent="-342900">
              <a:lnSpc>
                <a:spcPct val="150000"/>
              </a:lnSpc>
              <a:buAutoNum type="arabicPeriod"/>
            </a:pPr>
            <a:r>
              <a:rPr lang="en-IN" b="1" dirty="0">
                <a:latin typeface="Times New Roman" panose="02020603050405020304" pitchFamily="18" charset="0"/>
                <a:cs typeface="Times New Roman" panose="02020603050405020304" pitchFamily="18" charset="0"/>
              </a:rPr>
              <a:t>Manual decisions </a:t>
            </a:r>
            <a:r>
              <a:rPr lang="en-IN" dirty="0">
                <a:latin typeface="Times New Roman" panose="02020603050405020304" pitchFamily="18" charset="0"/>
                <a:cs typeface="Times New Roman" panose="02020603050405020304" pitchFamily="18" charset="0"/>
              </a:rPr>
              <a:t>– Managers interpret data manually for actions.</a:t>
            </a:r>
          </a:p>
          <a:p>
            <a:endParaRPr lang="en-IN" dirty="0"/>
          </a:p>
        </p:txBody>
      </p:sp>
    </p:spTree>
    <p:extLst>
      <p:ext uri="{BB962C8B-B14F-4D97-AF65-F5344CB8AC3E}">
        <p14:creationId xmlns:p14="http://schemas.microsoft.com/office/powerpoint/2010/main" val="350565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7F27BC-A4D7-926B-2187-D691EA1FADB6}"/>
              </a:ext>
            </a:extLst>
          </p:cNvPr>
          <p:cNvSpPr txBox="1"/>
          <p:nvPr/>
        </p:nvSpPr>
        <p:spPr>
          <a:xfrm>
            <a:off x="277942" y="478039"/>
            <a:ext cx="8245642" cy="2865143"/>
          </a:xfrm>
          <a:prstGeom prst="rect">
            <a:avLst/>
          </a:prstGeom>
          <a:noFill/>
        </p:spPr>
        <p:txBody>
          <a:bodyPr wrap="square">
            <a:spAutoFit/>
          </a:bodyPr>
          <a:lstStyle/>
          <a:p>
            <a:pPr algn="just" rtl="0" fontAlgn="base">
              <a:lnSpc>
                <a:spcPts val="3668"/>
              </a:lnSpc>
              <a:spcAft>
                <a:spcPts val="15"/>
              </a:spcAft>
            </a:pPr>
            <a:r>
              <a:rPr lang="en-US" sz="2800" b="1" i="0" u="sng" dirty="0">
                <a:solidFill>
                  <a:srgbClr val="000000"/>
                </a:solidFill>
                <a:effectLst/>
                <a:latin typeface="Times New Roman" panose="02020603050405020304" pitchFamily="18" charset="0"/>
                <a:cs typeface="Times New Roman" panose="02020603050405020304" pitchFamily="18" charset="0"/>
              </a:rPr>
              <a:t>Proposed System</a:t>
            </a:r>
            <a:r>
              <a:rPr lang="en-US" sz="2800" b="0" i="0" dirty="0">
                <a:solidFill>
                  <a:srgbClr val="000000"/>
                </a:solidFill>
                <a:effectLst/>
                <a:latin typeface="Times New Roman" panose="02020603050405020304" pitchFamily="18" charset="0"/>
                <a:cs typeface="Times New Roman" panose="02020603050405020304" pitchFamily="18" charset="0"/>
              </a:rPr>
              <a:t> </a:t>
            </a:r>
          </a:p>
          <a:p>
            <a:pPr algn="just" rtl="0" fontAlgn="base">
              <a:lnSpc>
                <a:spcPts val="3668"/>
              </a:lnSpc>
              <a:spcAft>
                <a:spcPts val="15"/>
              </a:spcAft>
            </a:pPr>
            <a:r>
              <a:rPr lang="en-US" b="0" i="0" dirty="0">
                <a:solidFill>
                  <a:srgbClr val="000000"/>
                </a:solidFill>
                <a:effectLst/>
                <a:latin typeface="Times New Roman" panose="02020603050405020304" pitchFamily="18" charset="0"/>
                <a:cs typeface="Times New Roman" panose="02020603050405020304" pitchFamily="18" charset="0"/>
              </a:rPr>
              <a:t>1. Data from sensors and machines is gathered in real-time.</a:t>
            </a:r>
          </a:p>
          <a:p>
            <a:pPr algn="just" rtl="0" fontAlgn="base">
              <a:lnSpc>
                <a:spcPts val="2389"/>
              </a:lnSpc>
              <a:spcAft>
                <a:spcPts val="15"/>
              </a:spcAft>
            </a:pPr>
            <a:r>
              <a:rPr lang="en-US" b="0" i="0" dirty="0">
                <a:solidFill>
                  <a:srgbClr val="000000"/>
                </a:solidFill>
                <a:effectLst/>
                <a:latin typeface="Times New Roman" panose="02020603050405020304" pitchFamily="18" charset="0"/>
                <a:cs typeface="Times New Roman" panose="02020603050405020304" pitchFamily="18" charset="0"/>
              </a:rPr>
              <a:t>2. The data is processed and analyzed using advanced algorithms.</a:t>
            </a:r>
          </a:p>
          <a:p>
            <a:pPr algn="just" rtl="0" fontAlgn="base">
              <a:lnSpc>
                <a:spcPts val="2389"/>
              </a:lnSpc>
              <a:spcAft>
                <a:spcPts val="15"/>
              </a:spcAft>
            </a:pPr>
            <a:r>
              <a:rPr lang="en-US" b="0" i="0" dirty="0">
                <a:solidFill>
                  <a:srgbClr val="000000"/>
                </a:solidFill>
                <a:effectLst/>
                <a:latin typeface="Times New Roman" panose="02020603050405020304" pitchFamily="18" charset="0"/>
                <a:cs typeface="Times New Roman" panose="02020603050405020304" pitchFamily="18" charset="0"/>
              </a:rPr>
              <a:t>3. Results are visualized in interactive dashboards.</a:t>
            </a:r>
          </a:p>
          <a:p>
            <a:pPr algn="just" rtl="0" fontAlgn="base">
              <a:lnSpc>
                <a:spcPts val="2389"/>
              </a:lnSpc>
              <a:spcAft>
                <a:spcPts val="15"/>
              </a:spcAft>
            </a:pPr>
            <a:r>
              <a:rPr lang="en-US" b="0" i="0" dirty="0">
                <a:solidFill>
                  <a:srgbClr val="000000"/>
                </a:solidFill>
                <a:effectLst/>
                <a:latin typeface="Times New Roman" panose="02020603050405020304" pitchFamily="18" charset="0"/>
                <a:cs typeface="Times New Roman" panose="02020603050405020304" pitchFamily="18" charset="0"/>
              </a:rPr>
              <a:t>4. Managers make decisions based on these insights for improved productivity and safety.</a:t>
            </a:r>
          </a:p>
          <a:p>
            <a:pPr algn="just" rtl="0" fontAlgn="base">
              <a:lnSpc>
                <a:spcPts val="2389"/>
              </a:lnSpc>
              <a:spcAft>
                <a:spcPts val="15"/>
              </a:spcAft>
            </a:pPr>
            <a:r>
              <a:rPr lang="en-US" b="0" i="0" dirty="0">
                <a:solidFill>
                  <a:srgbClr val="000000"/>
                </a:solidFill>
                <a:effectLst/>
                <a:latin typeface="Times New Roman" panose="02020603050405020304" pitchFamily="18" charset="0"/>
                <a:cs typeface="Times New Roman" panose="02020603050405020304" pitchFamily="18" charset="0"/>
              </a:rPr>
              <a:t>This system integrates both data analytics and visualization to create a more efficient, secure, and productive mining operation.</a:t>
            </a:r>
          </a:p>
        </p:txBody>
      </p:sp>
      <p:pic>
        <p:nvPicPr>
          <p:cNvPr id="4" name="Picture 3">
            <a:extLst>
              <a:ext uri="{FF2B5EF4-FFF2-40B4-BE49-F238E27FC236}">
                <a16:creationId xmlns:a16="http://schemas.microsoft.com/office/drawing/2014/main" id="{65E0635F-1C53-5A35-F81A-C7BA810E29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1168" y="3608653"/>
            <a:ext cx="5572432" cy="3131574"/>
          </a:xfrm>
          <a:prstGeom prst="rect">
            <a:avLst/>
          </a:prstGeom>
        </p:spPr>
      </p:pic>
    </p:spTree>
    <p:extLst>
      <p:ext uri="{BB962C8B-B14F-4D97-AF65-F5344CB8AC3E}">
        <p14:creationId xmlns:p14="http://schemas.microsoft.com/office/powerpoint/2010/main" val="1418432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C32B17-820D-EF05-59E6-BE8B81DB3B2B}"/>
              </a:ext>
            </a:extLst>
          </p:cNvPr>
          <p:cNvSpPr txBox="1"/>
          <p:nvPr/>
        </p:nvSpPr>
        <p:spPr>
          <a:xfrm>
            <a:off x="360568" y="362203"/>
            <a:ext cx="10202779" cy="2273379"/>
          </a:xfrm>
          <a:prstGeom prst="rect">
            <a:avLst/>
          </a:prstGeom>
          <a:noFill/>
        </p:spPr>
        <p:txBody>
          <a:bodyPr wrap="square">
            <a:spAutoFit/>
          </a:bodyPr>
          <a:lstStyle/>
          <a:p>
            <a:pPr algn="just" rtl="0" fontAlgn="base">
              <a:lnSpc>
                <a:spcPts val="3668"/>
              </a:lnSpc>
              <a:spcAft>
                <a:spcPts val="15"/>
              </a:spcAft>
            </a:pPr>
            <a:r>
              <a:rPr lang="en-US" sz="2800" b="1" u="sng" dirty="0">
                <a:solidFill>
                  <a:srgbClr val="000000"/>
                </a:solidFill>
                <a:latin typeface="Times New Roman" panose="02020603050405020304" pitchFamily="18" charset="0"/>
              </a:rPr>
              <a:t>Advantages</a:t>
            </a:r>
          </a:p>
          <a:p>
            <a:pPr algn="just" rtl="0" fontAlgn="base">
              <a:lnSpc>
                <a:spcPts val="3668"/>
              </a:lnSpc>
              <a:spcAft>
                <a:spcPts val="15"/>
              </a:spcAft>
            </a:pPr>
            <a:endParaRPr lang="en-US" sz="2800" b="1" i="0" u="sng" dirty="0">
              <a:solidFill>
                <a:srgbClr val="000000"/>
              </a:solidFill>
              <a:effectLst/>
              <a:latin typeface="Times New Roman" panose="02020603050405020304" pitchFamily="18" charset="0"/>
            </a:endParaRPr>
          </a:p>
          <a:p>
            <a:pPr algn="just" rtl="0" fontAlgn="base">
              <a:lnSpc>
                <a:spcPts val="3668"/>
              </a:lnSpc>
              <a:spcAft>
                <a:spcPts val="15"/>
              </a:spcAft>
            </a:pPr>
            <a:r>
              <a:rPr lang="en-US" sz="2800" b="0" i="0" dirty="0">
                <a:solidFill>
                  <a:srgbClr val="000000"/>
                </a:solidFill>
                <a:effectLst/>
                <a:latin typeface="Times New Roman" panose="02020603050405020304" pitchFamily="18" charset="0"/>
              </a:rPr>
              <a:t> </a:t>
            </a:r>
            <a:endParaRPr lang="en-US" sz="2800" b="0" i="0" dirty="0">
              <a:solidFill>
                <a:srgbClr val="000000"/>
              </a:solidFill>
              <a:effectLst/>
              <a:latin typeface="Segoe UI" panose="020B0502040204020203" pitchFamily="34" charset="0"/>
            </a:endParaRPr>
          </a:p>
          <a:p>
            <a:pPr algn="just" rtl="0" fontAlgn="base">
              <a:lnSpc>
                <a:spcPts val="3668"/>
              </a:lnSpc>
              <a:spcAft>
                <a:spcPts val="15"/>
              </a:spcAft>
            </a:pPr>
            <a:r>
              <a:rPr lang="en-US" sz="2800" b="0" i="0" dirty="0">
                <a:solidFill>
                  <a:srgbClr val="000000"/>
                </a:solidFill>
                <a:effectLst/>
                <a:latin typeface="Times New Roman" panose="02020603050405020304" pitchFamily="18" charset="0"/>
              </a:rPr>
              <a:t> </a:t>
            </a:r>
            <a:endParaRPr lang="en-US" b="0" i="0" dirty="0">
              <a:solidFill>
                <a:srgbClr val="000000"/>
              </a:solidFill>
              <a:effectLst/>
              <a:latin typeface="Segoe UI" panose="020B0502040204020203" pitchFamily="34" charset="0"/>
            </a:endParaRPr>
          </a:p>
          <a:p>
            <a:pPr algn="just" fontAlgn="base">
              <a:lnSpc>
                <a:spcPts val="2389"/>
              </a:lnSpc>
              <a:spcAft>
                <a:spcPts val="15"/>
              </a:spcAft>
            </a:pPr>
            <a:endParaRPr lang="en-US" b="0" i="0" dirty="0">
              <a:solidFill>
                <a:srgbClr val="000000"/>
              </a:solidFill>
              <a:effectLst/>
              <a:latin typeface="Segoe UI" panose="020B0502040204020203" pitchFamily="34" charset="0"/>
            </a:endParaRPr>
          </a:p>
        </p:txBody>
      </p:sp>
      <p:sp>
        <p:nvSpPr>
          <p:cNvPr id="6" name="Subtitle 5">
            <a:extLst>
              <a:ext uri="{FF2B5EF4-FFF2-40B4-BE49-F238E27FC236}">
                <a16:creationId xmlns:a16="http://schemas.microsoft.com/office/drawing/2014/main" id="{28C34211-0D31-FEA2-D3AD-27A1CD331745}"/>
              </a:ext>
            </a:extLst>
          </p:cNvPr>
          <p:cNvSpPr>
            <a:spLocks noGrp="1"/>
          </p:cNvSpPr>
          <p:nvPr>
            <p:ph type="subTitle" idx="1"/>
          </p:nvPr>
        </p:nvSpPr>
        <p:spPr>
          <a:xfrm>
            <a:off x="0" y="1016154"/>
            <a:ext cx="9144000" cy="3536182"/>
          </a:xfrm>
        </p:spPr>
        <p:txBody>
          <a:bodyPr>
            <a:noAutofit/>
          </a:bodyPr>
          <a:lstStyle/>
          <a:p>
            <a:pPr lvl="1" algn="l">
              <a:lnSpc>
                <a:spcPct val="150000"/>
              </a:lnSpc>
            </a:pPr>
            <a:r>
              <a:rPr lang="en-US" sz="1800" b="1" dirty="0">
                <a:latin typeface="Times New Roman" panose="02020603050405020304" pitchFamily="18" charset="0"/>
                <a:cs typeface="Times New Roman" panose="02020603050405020304" pitchFamily="18" charset="0"/>
              </a:rPr>
              <a:t>1. Faster decisions </a:t>
            </a:r>
            <a:r>
              <a:rPr lang="en-US" sz="1800" dirty="0">
                <a:latin typeface="Times New Roman" panose="02020603050405020304" pitchFamily="18" charset="0"/>
                <a:cs typeface="Times New Roman" panose="02020603050405020304" pitchFamily="18" charset="0"/>
              </a:rPr>
              <a:t>– Live data helps make quick and smart choices.</a:t>
            </a:r>
          </a:p>
          <a:p>
            <a:pPr lvl="1" algn="l">
              <a:lnSpc>
                <a:spcPct val="150000"/>
              </a:lnSpc>
            </a:pPr>
            <a:r>
              <a:rPr lang="en-US" sz="1800" b="1" dirty="0">
                <a:latin typeface="Times New Roman" panose="02020603050405020304" pitchFamily="18" charset="0"/>
                <a:cs typeface="Times New Roman" panose="02020603050405020304" pitchFamily="18" charset="0"/>
              </a:rPr>
              <a:t>2. Better predictions </a:t>
            </a:r>
            <a:r>
              <a:rPr lang="en-US" sz="1800" dirty="0">
                <a:latin typeface="Times New Roman" panose="02020603050405020304" pitchFamily="18" charset="0"/>
                <a:cs typeface="Times New Roman" panose="02020603050405020304" pitchFamily="18" charset="0"/>
              </a:rPr>
              <a:t>– Know problems before they happen.</a:t>
            </a:r>
          </a:p>
          <a:p>
            <a:pPr lvl="1" algn="l">
              <a:lnSpc>
                <a:spcPct val="150000"/>
              </a:lnSpc>
            </a:pPr>
            <a:r>
              <a:rPr lang="en-US" sz="1800" b="1" dirty="0">
                <a:latin typeface="Times New Roman" panose="02020603050405020304" pitchFamily="18" charset="0"/>
                <a:cs typeface="Times New Roman" panose="02020603050405020304" pitchFamily="18" charset="0"/>
              </a:rPr>
              <a:t>3. Clear visuals </a:t>
            </a:r>
            <a:r>
              <a:rPr lang="en-US" sz="1800" dirty="0">
                <a:latin typeface="Times New Roman" panose="02020603050405020304" pitchFamily="18" charset="0"/>
                <a:cs typeface="Times New Roman" panose="02020603050405020304" pitchFamily="18" charset="0"/>
              </a:rPr>
              <a:t>– Easy-to-understand charts, maps, and dashboards.</a:t>
            </a:r>
          </a:p>
          <a:p>
            <a:pPr lvl="1" algn="l">
              <a:lnSpc>
                <a:spcPct val="150000"/>
              </a:lnSpc>
            </a:pPr>
            <a:r>
              <a:rPr lang="en-US" sz="1800" b="1" dirty="0">
                <a:latin typeface="Times New Roman" panose="02020603050405020304" pitchFamily="18" charset="0"/>
                <a:cs typeface="Times New Roman" panose="02020603050405020304" pitchFamily="18" charset="0"/>
              </a:rPr>
              <a:t>4. Saves time and cost </a:t>
            </a:r>
            <a:r>
              <a:rPr lang="en-US" sz="1800" dirty="0">
                <a:latin typeface="Times New Roman" panose="02020603050405020304" pitchFamily="18" charset="0"/>
                <a:cs typeface="Times New Roman" panose="02020603050405020304" pitchFamily="18" charset="0"/>
              </a:rPr>
              <a:t>– Less manual work, fewer mistakes, better efficiency.</a:t>
            </a:r>
          </a:p>
          <a:p>
            <a:pPr lvl="1" algn="l">
              <a:lnSpc>
                <a:spcPct val="150000"/>
              </a:lnSpc>
            </a:pPr>
            <a:r>
              <a:rPr lang="en-US" sz="1800" b="1" dirty="0">
                <a:latin typeface="Times New Roman" panose="02020603050405020304" pitchFamily="18" charset="0"/>
                <a:cs typeface="Times New Roman" panose="02020603050405020304" pitchFamily="18" charset="0"/>
              </a:rPr>
              <a:t>5. Improves safety </a:t>
            </a:r>
            <a:r>
              <a:rPr lang="en-US" sz="1800" dirty="0">
                <a:latin typeface="Times New Roman" panose="02020603050405020304" pitchFamily="18" charset="0"/>
                <a:cs typeface="Times New Roman" panose="02020603050405020304" pitchFamily="18" charset="0"/>
              </a:rPr>
              <a:t>– Predict risks early and prevent accidents.</a:t>
            </a:r>
          </a:p>
          <a:p>
            <a:pPr lvl="1" algn="l">
              <a:lnSpc>
                <a:spcPct val="150000"/>
              </a:lnSpc>
            </a:pPr>
            <a:r>
              <a:rPr lang="en-US" sz="1800" b="1" dirty="0">
                <a:latin typeface="Times New Roman" panose="02020603050405020304" pitchFamily="18" charset="0"/>
                <a:cs typeface="Times New Roman" panose="02020603050405020304" pitchFamily="18" charset="0"/>
              </a:rPr>
              <a:t>6. User-friendly </a:t>
            </a:r>
            <a:r>
              <a:rPr lang="en-US" sz="1800" dirty="0">
                <a:latin typeface="Times New Roman" panose="02020603050405020304" pitchFamily="18" charset="0"/>
                <a:cs typeface="Times New Roman" panose="02020603050405020304" pitchFamily="18" charset="0"/>
              </a:rPr>
              <a:t>– Even non-technical people can use and understand the system</a:t>
            </a:r>
            <a:r>
              <a:rPr lang="en-US" sz="1400" dirty="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7268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AF20BF8-E28E-57A7-7EAC-489386150405}"/>
              </a:ext>
            </a:extLst>
          </p:cNvPr>
          <p:cNvSpPr txBox="1"/>
          <p:nvPr/>
        </p:nvSpPr>
        <p:spPr>
          <a:xfrm>
            <a:off x="155245" y="0"/>
            <a:ext cx="7808883" cy="4208844"/>
          </a:xfrm>
          <a:prstGeom prst="rect">
            <a:avLst/>
          </a:prstGeom>
          <a:noFill/>
        </p:spPr>
        <p:txBody>
          <a:bodyPr wrap="square">
            <a:spAutoFit/>
          </a:bodyPr>
          <a:lstStyle/>
          <a:p>
            <a:pPr algn="l" rtl="0" fontAlgn="base">
              <a:lnSpc>
                <a:spcPts val="3480"/>
              </a:lnSpc>
              <a:spcAft>
                <a:spcPts val="1245"/>
              </a:spcAft>
            </a:pPr>
            <a:endParaRPr lang="en-US" sz="2800" b="0" i="0" dirty="0">
              <a:solidFill>
                <a:srgbClr val="000000"/>
              </a:solidFill>
              <a:effectLst/>
              <a:latin typeface="Segoe UI" panose="020B0502040204020203" pitchFamily="34" charset="0"/>
            </a:endParaRPr>
          </a:p>
          <a:p>
            <a:pPr algn="l" rtl="0" fontAlgn="base">
              <a:lnSpc>
                <a:spcPts val="2023"/>
              </a:lnSpc>
              <a:spcAft>
                <a:spcPts val="1245"/>
              </a:spcAft>
            </a:pPr>
            <a:r>
              <a:rPr lang="en-US" sz="2800" b="0" i="0" dirty="0">
                <a:solidFill>
                  <a:srgbClr val="000000"/>
                </a:solidFill>
                <a:effectLst/>
                <a:latin typeface="Times New Roman" panose="02020603050405020304" pitchFamily="18" charset="0"/>
              </a:rPr>
              <a:t>  </a:t>
            </a:r>
            <a:endParaRPr lang="en-US" sz="2800" dirty="0">
              <a:solidFill>
                <a:srgbClr val="000000"/>
              </a:solidFill>
              <a:latin typeface="Segoe UI" panose="020B0502040204020203" pitchFamily="34" charset="0"/>
            </a:endParaRPr>
          </a:p>
          <a:p>
            <a:pPr marL="285750" indent="-285750" algn="l" rtl="0" fontAlgn="base">
              <a:lnSpc>
                <a:spcPct val="150000"/>
              </a:lnSpc>
              <a:spcAft>
                <a:spcPts val="1245"/>
              </a:spcAft>
              <a:buFont typeface="Wingdings" panose="05000000000000000000" pitchFamily="2" charset="2"/>
              <a:buChar char="Ø"/>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Programming Language:</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Python</a:t>
            </a:r>
          </a:p>
          <a:p>
            <a:pPr marL="285750" indent="-285750" algn="l" rtl="0" fontAlgn="base">
              <a:lnSpc>
                <a:spcPct val="150000"/>
              </a:lnSpc>
              <a:spcAft>
                <a:spcPts val="1245"/>
              </a:spcAft>
              <a:buFont typeface="Wingdings" panose="05000000000000000000" pitchFamily="2" charset="2"/>
              <a:buChar char="Ø"/>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Integrated Development Environment (IDE):</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kern="100" dirty="0" err="1">
                <a:effectLst/>
                <a:latin typeface="Times New Roman" panose="02020603050405020304" pitchFamily="18" charset="0"/>
                <a:ea typeface="Calibri" panose="020F0502020204030204" pitchFamily="34" charset="0"/>
                <a:cs typeface="Times New Roman" panose="02020603050405020304" pitchFamily="18" charset="0"/>
              </a:rPr>
              <a:t>Jupyter</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Notebook</a:t>
            </a:r>
          </a:p>
          <a:p>
            <a:pPr marL="285750" indent="-285750">
              <a:lnSpc>
                <a:spcPct val="150000"/>
              </a:lnSpc>
              <a:spcAft>
                <a:spcPts val="800"/>
              </a:spcAft>
              <a:buFont typeface="Wingdings" panose="05000000000000000000" pitchFamily="2" charset="2"/>
              <a:buChar char="Ø"/>
              <a:tabLst>
                <a:tab pos="5082540" algn="l"/>
              </a:tabLst>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 Packages :</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Pandas , </a:t>
            </a:r>
            <a:r>
              <a:rPr lang="en-IN" kern="100" dirty="0" err="1">
                <a:effectLst/>
                <a:latin typeface="Times New Roman" panose="02020603050405020304" pitchFamily="18" charset="0"/>
                <a:ea typeface="Calibri" panose="020F0502020204030204" pitchFamily="34" charset="0"/>
                <a:cs typeface="Times New Roman" panose="02020603050405020304" pitchFamily="18" charset="0"/>
              </a:rPr>
              <a:t>MatplotLib</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 </a:t>
            </a:r>
            <a:r>
              <a:rPr lang="en-IN" kern="100" dirty="0" err="1">
                <a:effectLst/>
                <a:latin typeface="Times New Roman" panose="02020603050405020304" pitchFamily="18" charset="0"/>
                <a:ea typeface="Calibri" panose="020F0502020204030204" pitchFamily="34" charset="0"/>
                <a:cs typeface="Times New Roman" panose="02020603050405020304" pitchFamily="18" charset="0"/>
              </a:rPr>
              <a:t>Numpy</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 Scikit learn , </a:t>
            </a:r>
            <a:r>
              <a:rPr lang="en-IN" kern="100" dirty="0" err="1">
                <a:effectLst/>
                <a:latin typeface="Times New Roman" panose="02020603050405020304" pitchFamily="18" charset="0"/>
                <a:ea typeface="Calibri" panose="020F0502020204030204" pitchFamily="34" charset="0"/>
                <a:cs typeface="Times New Roman" panose="02020603050405020304" pitchFamily="18" charset="0"/>
              </a:rPr>
              <a:t>Tkinter</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Seaborn , </a:t>
            </a:r>
            <a:r>
              <a:rPr lang="en-IN" kern="100" dirty="0" err="1">
                <a:effectLst/>
                <a:latin typeface="Times New Roman" panose="02020603050405020304" pitchFamily="18" charset="0"/>
                <a:ea typeface="Calibri" panose="020F0502020204030204" pitchFamily="34" charset="0"/>
                <a:cs typeface="Times New Roman" panose="02020603050405020304" pitchFamily="18" charset="0"/>
              </a:rPr>
              <a:t>Plotly</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TensorFlow.</a:t>
            </a:r>
          </a:p>
          <a:p>
            <a:pPr>
              <a:lnSpc>
                <a:spcPct val="150000"/>
              </a:lnSpc>
              <a:spcAft>
                <a:spcPts val="800"/>
              </a:spcAf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algn="l" rtl="0" fontAlgn="base">
              <a:lnSpc>
                <a:spcPts val="2023"/>
              </a:lnSpc>
              <a:buFont typeface="Arial" panose="020B0604020202020204" pitchFamily="34" charset="0"/>
              <a:buChar char="•"/>
            </a:pPr>
            <a:endParaRPr lang="en-US" sz="1800" b="0" i="0" dirty="0">
              <a:solidFill>
                <a:srgbClr val="000000"/>
              </a:solidFill>
              <a:effectLst/>
              <a:latin typeface="Times New Roman" panose="02020603050405020304" pitchFamily="18" charset="0"/>
            </a:endParaRPr>
          </a:p>
          <a:p>
            <a:pPr algn="l" rtl="0" fontAlgn="base">
              <a:lnSpc>
                <a:spcPts val="2023"/>
              </a:lnSpc>
              <a:spcAft>
                <a:spcPts val="1245"/>
              </a:spcAft>
            </a:pPr>
            <a:r>
              <a:rPr lang="en-US" sz="1800" b="1" i="0" dirty="0">
                <a:solidFill>
                  <a:srgbClr val="000000"/>
                </a:solidFill>
                <a:effectLst/>
                <a:latin typeface="Times New Roman" panose="02020603050405020304" pitchFamily="18" charset="0"/>
              </a:rPr>
              <a:t>                                                 </a:t>
            </a:r>
            <a:r>
              <a:rPr lang="en-US" sz="1800" b="0" i="0" dirty="0">
                <a:solidFill>
                  <a:srgbClr val="000000"/>
                </a:solidFill>
                <a:effectLst/>
                <a:latin typeface="Times New Roman" panose="02020603050405020304" pitchFamily="18" charset="0"/>
              </a:rPr>
              <a:t> </a:t>
            </a:r>
            <a:endParaRPr lang="en-US" b="0" i="0" dirty="0">
              <a:solidFill>
                <a:srgbClr val="000000"/>
              </a:solidFill>
              <a:effectLst/>
              <a:latin typeface="Segoe UI" panose="020B0502040204020203" pitchFamily="34" charset="0"/>
            </a:endParaRPr>
          </a:p>
        </p:txBody>
      </p:sp>
      <p:sp>
        <p:nvSpPr>
          <p:cNvPr id="2" name="Title 1">
            <a:extLst>
              <a:ext uri="{FF2B5EF4-FFF2-40B4-BE49-F238E27FC236}">
                <a16:creationId xmlns:a16="http://schemas.microsoft.com/office/drawing/2014/main" id="{8A7AEDB3-8E73-8FCA-E561-257FEAC6C22C}"/>
              </a:ext>
            </a:extLst>
          </p:cNvPr>
          <p:cNvSpPr>
            <a:spLocks noGrp="1"/>
          </p:cNvSpPr>
          <p:nvPr>
            <p:ph type="ctrTitle"/>
          </p:nvPr>
        </p:nvSpPr>
        <p:spPr>
          <a:xfrm>
            <a:off x="-2467896" y="-106669"/>
            <a:ext cx="9144000" cy="971908"/>
          </a:xfrm>
        </p:spPr>
        <p:txBody>
          <a:bodyPr>
            <a:normAutofit/>
          </a:bodyPr>
          <a:lstStyle/>
          <a:p>
            <a:r>
              <a:rPr lang="en-IN" sz="2800" b="1" u="sng" dirty="0">
                <a:latin typeface="Times New Roman" panose="02020603050405020304" pitchFamily="18" charset="0"/>
                <a:cs typeface="Times New Roman" panose="02020603050405020304" pitchFamily="18" charset="0"/>
              </a:rPr>
              <a:t>Software Requirements</a:t>
            </a:r>
          </a:p>
        </p:txBody>
      </p:sp>
    </p:spTree>
    <p:extLst>
      <p:ext uri="{BB962C8B-B14F-4D97-AF65-F5344CB8AC3E}">
        <p14:creationId xmlns:p14="http://schemas.microsoft.com/office/powerpoint/2010/main" val="3793903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A71700-5751-A117-0CC0-CFE4181DADB7}"/>
              </a:ext>
            </a:extLst>
          </p:cNvPr>
          <p:cNvSpPr txBox="1"/>
          <p:nvPr/>
        </p:nvSpPr>
        <p:spPr>
          <a:xfrm>
            <a:off x="263400" y="0"/>
            <a:ext cx="9769642" cy="3211135"/>
          </a:xfrm>
          <a:prstGeom prst="rect">
            <a:avLst/>
          </a:prstGeom>
          <a:noFill/>
        </p:spPr>
        <p:txBody>
          <a:bodyPr wrap="square">
            <a:spAutoFit/>
          </a:bodyPr>
          <a:lstStyle/>
          <a:p>
            <a:pPr algn="l" rtl="0" fontAlgn="base">
              <a:lnSpc>
                <a:spcPts val="3480"/>
              </a:lnSpc>
              <a:spcAft>
                <a:spcPts val="1245"/>
              </a:spcAft>
            </a:pPr>
            <a:endParaRPr lang="en-US" sz="2800" b="0" i="0" u="sng" dirty="0">
              <a:solidFill>
                <a:srgbClr val="000000"/>
              </a:solidFill>
              <a:effectLst/>
              <a:latin typeface="Times New Roman" panose="02020603050405020304" pitchFamily="18" charset="0"/>
              <a:cs typeface="Times New Roman" panose="02020603050405020304" pitchFamily="18" charset="0"/>
            </a:endParaRPr>
          </a:p>
          <a:p>
            <a:pPr algn="l" rtl="0" fontAlgn="base">
              <a:lnSpc>
                <a:spcPts val="3480"/>
              </a:lnSpc>
              <a:spcAft>
                <a:spcPts val="1245"/>
              </a:spcAft>
            </a:pPr>
            <a:r>
              <a:rPr lang="en-US" sz="2800" b="0" i="0" dirty="0">
                <a:solidFill>
                  <a:srgbClr val="000000"/>
                </a:solidFill>
                <a:effectLst/>
                <a:latin typeface="Times New Roman" panose="02020603050405020304" pitchFamily="18" charset="0"/>
                <a:cs typeface="Times New Roman" panose="02020603050405020304" pitchFamily="18" charset="0"/>
              </a:rPr>
              <a:t> </a:t>
            </a:r>
          </a:p>
          <a:p>
            <a:pPr marL="285750" indent="-285750" algn="l" rtl="0" fontAlgn="base">
              <a:lnSpc>
                <a:spcPts val="2023"/>
              </a:lnSpc>
              <a:spcAft>
                <a:spcPts val="1245"/>
              </a:spcAft>
              <a:buFont typeface="Wingdings" panose="05000000000000000000" pitchFamily="2" charset="2"/>
              <a:buChar char="Ø"/>
            </a:pPr>
            <a:r>
              <a:rPr lang="en-US" b="1" i="0" dirty="0">
                <a:solidFill>
                  <a:srgbClr val="000000"/>
                </a:solidFill>
                <a:effectLst/>
                <a:latin typeface="Times New Roman" panose="02020603050405020304" pitchFamily="18" charset="0"/>
                <a:cs typeface="Times New Roman" panose="02020603050405020304" pitchFamily="18" charset="0"/>
              </a:rPr>
              <a:t>System</a:t>
            </a:r>
            <a:r>
              <a:rPr lang="en-US" b="0" i="0" dirty="0">
                <a:solidFill>
                  <a:srgbClr val="000000"/>
                </a:solidFill>
                <a:effectLst/>
                <a:latin typeface="Times New Roman" panose="02020603050405020304" pitchFamily="18" charset="0"/>
                <a:cs typeface="Times New Roman" panose="02020603050405020304" pitchFamily="18" charset="0"/>
              </a:rPr>
              <a:t> :MINIMUM i3.  </a:t>
            </a:r>
          </a:p>
          <a:p>
            <a:pPr marL="285750" indent="-285750" algn="l" rtl="0" fontAlgn="base">
              <a:lnSpc>
                <a:spcPct val="150000"/>
              </a:lnSpc>
              <a:buFont typeface="Wingdings" panose="05000000000000000000" pitchFamily="2" charset="2"/>
              <a:buChar char="Ø"/>
            </a:pPr>
            <a:r>
              <a:rPr lang="en-US" b="1" i="0" dirty="0">
                <a:solidFill>
                  <a:srgbClr val="000000"/>
                </a:solidFill>
                <a:effectLst/>
                <a:latin typeface="Times New Roman" panose="02020603050405020304" pitchFamily="18" charset="0"/>
                <a:cs typeface="Times New Roman" panose="02020603050405020304" pitchFamily="18" charset="0"/>
              </a:rPr>
              <a:t> Hard Dis</a:t>
            </a:r>
            <a:r>
              <a:rPr lang="en-US" b="1" dirty="0">
                <a:solidFill>
                  <a:srgbClr val="000000"/>
                </a:solidFill>
                <a:latin typeface="Times New Roman" panose="02020603050405020304" pitchFamily="18" charset="0"/>
                <a:cs typeface="Times New Roman" panose="02020603050405020304" pitchFamily="18" charset="0"/>
              </a:rPr>
              <a:t>k</a:t>
            </a:r>
            <a:r>
              <a:rPr lang="en-US" b="0" i="0" dirty="0">
                <a:solidFill>
                  <a:srgbClr val="000000"/>
                </a:solidFill>
                <a:effectLst/>
                <a:latin typeface="Times New Roman" panose="02020603050405020304" pitchFamily="18" charset="0"/>
                <a:cs typeface="Times New Roman" panose="02020603050405020304" pitchFamily="18" charset="0"/>
              </a:rPr>
              <a:t> </a:t>
            </a:r>
            <a:r>
              <a:rPr lang="en-US" dirty="0">
                <a:solidFill>
                  <a:srgbClr val="000000"/>
                </a:solidFill>
                <a:latin typeface="Times New Roman" panose="02020603050405020304" pitchFamily="18" charset="0"/>
                <a:cs typeface="Times New Roman" panose="02020603050405020304" pitchFamily="18" charset="0"/>
              </a:rPr>
              <a:t>:</a:t>
            </a:r>
            <a:r>
              <a:rPr lang="en-US" b="0" i="0" dirty="0">
                <a:solidFill>
                  <a:srgbClr val="000000"/>
                </a:solidFill>
                <a:effectLst/>
                <a:latin typeface="Times New Roman" panose="02020603050405020304" pitchFamily="18" charset="0"/>
                <a:cs typeface="Times New Roman" panose="02020603050405020304" pitchFamily="18" charset="0"/>
              </a:rPr>
              <a:t>40 GB.  </a:t>
            </a:r>
          </a:p>
          <a:p>
            <a:pPr marL="342900" indent="-342900" algn="l" rtl="0" fontAlgn="base">
              <a:lnSpc>
                <a:spcPct val="150000"/>
              </a:lnSpc>
              <a:buFont typeface="Wingdings" panose="05000000000000000000" pitchFamily="2" charset="2"/>
              <a:buChar char="Ø"/>
            </a:pPr>
            <a:r>
              <a:rPr lang="en-US" b="1" i="0" dirty="0">
                <a:solidFill>
                  <a:srgbClr val="000000"/>
                </a:solidFill>
                <a:effectLst/>
                <a:latin typeface="Times New Roman" panose="02020603050405020304" pitchFamily="18" charset="0"/>
                <a:cs typeface="Times New Roman" panose="02020603050405020304" pitchFamily="18" charset="0"/>
              </a:rPr>
              <a:t>Ram</a:t>
            </a:r>
            <a:r>
              <a:rPr lang="en-US" b="0" i="0" dirty="0">
                <a:solidFill>
                  <a:srgbClr val="000000"/>
                </a:solidFill>
                <a:effectLst/>
                <a:latin typeface="Times New Roman" panose="02020603050405020304" pitchFamily="18" charset="0"/>
                <a:cs typeface="Times New Roman" panose="02020603050405020304" pitchFamily="18" charset="0"/>
              </a:rPr>
              <a:t> :4 GB  </a:t>
            </a:r>
          </a:p>
          <a:p>
            <a:pPr algn="l" rtl="0" fontAlgn="base">
              <a:lnSpc>
                <a:spcPct val="150000"/>
              </a:lnSpc>
            </a:pPr>
            <a:r>
              <a:rPr lang="en-US" b="0" i="0" dirty="0">
                <a:solidFill>
                  <a:srgbClr val="000000"/>
                </a:solidFill>
                <a:effectLst/>
                <a:latin typeface="Times New Roman" panose="02020603050405020304" pitchFamily="18" charset="0"/>
                <a:cs typeface="Times New Roman" panose="02020603050405020304" pitchFamily="18" charset="0"/>
              </a:rPr>
              <a:t>  </a:t>
            </a:r>
          </a:p>
          <a:p>
            <a:pPr algn="l" rtl="0" fontAlgn="base">
              <a:lnSpc>
                <a:spcPts val="2023"/>
              </a:lnSpc>
              <a:spcAft>
                <a:spcPts val="1245"/>
              </a:spcAft>
            </a:pPr>
            <a:r>
              <a:rPr lang="en-US" sz="1800" b="0" i="0" dirty="0">
                <a:solidFill>
                  <a:srgbClr val="000000"/>
                </a:solidFill>
                <a:effectLst/>
                <a:latin typeface="Times New Roman" panose="02020603050405020304" pitchFamily="18" charset="0"/>
              </a:rPr>
              <a:t> </a:t>
            </a:r>
            <a:endParaRPr lang="en-US" b="0" i="0" dirty="0">
              <a:solidFill>
                <a:srgbClr val="000000"/>
              </a:solidFill>
              <a:effectLst/>
              <a:latin typeface="Segoe UI" panose="020B0502040204020203" pitchFamily="34" charset="0"/>
            </a:endParaRPr>
          </a:p>
        </p:txBody>
      </p:sp>
      <p:sp>
        <p:nvSpPr>
          <p:cNvPr id="2" name="Title 1">
            <a:extLst>
              <a:ext uri="{FF2B5EF4-FFF2-40B4-BE49-F238E27FC236}">
                <a16:creationId xmlns:a16="http://schemas.microsoft.com/office/drawing/2014/main" id="{E3705FE3-F4FA-836A-CF6C-6C61AE3C9CAA}"/>
              </a:ext>
            </a:extLst>
          </p:cNvPr>
          <p:cNvSpPr>
            <a:spLocks noGrp="1"/>
          </p:cNvSpPr>
          <p:nvPr>
            <p:ph type="ctrTitle"/>
          </p:nvPr>
        </p:nvSpPr>
        <p:spPr>
          <a:xfrm>
            <a:off x="-2359742" y="264530"/>
            <a:ext cx="9144000" cy="676940"/>
          </a:xfrm>
        </p:spPr>
        <p:txBody>
          <a:bodyPr>
            <a:normAutofit/>
          </a:bodyPr>
          <a:lstStyle/>
          <a:p>
            <a:r>
              <a:rPr lang="en-IN" sz="2800" b="1" u="sng" dirty="0">
                <a:latin typeface="Times New Roman" panose="02020603050405020304" pitchFamily="18" charset="0"/>
                <a:cs typeface="Times New Roman" panose="02020603050405020304" pitchFamily="18" charset="0"/>
              </a:rPr>
              <a:t>Hardware Requirements</a:t>
            </a:r>
          </a:p>
        </p:txBody>
      </p:sp>
    </p:spTree>
    <p:extLst>
      <p:ext uri="{BB962C8B-B14F-4D97-AF65-F5344CB8AC3E}">
        <p14:creationId xmlns:p14="http://schemas.microsoft.com/office/powerpoint/2010/main" val="1285531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34963D-9A70-6D16-781B-D5DB0B9DC8FE}"/>
              </a:ext>
            </a:extLst>
          </p:cNvPr>
          <p:cNvSpPr txBox="1"/>
          <p:nvPr/>
        </p:nvSpPr>
        <p:spPr>
          <a:xfrm>
            <a:off x="540774" y="1043715"/>
            <a:ext cx="8829368" cy="2120068"/>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This project helps make mining work better and safer. By putting all the data in one place and showing it in clear charts and maps, managers can see what’s happening in real-time. They can make faster and smarter decisions. The system helps find problems early, improve work, save time, and reduce costs. It also makes mining safer for workers. Overall, mixing data analytics and visualization makes mining easier, smarter, and more efficient.</a:t>
            </a:r>
            <a:endParaRPr lang="en-IN"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6AEB62E0-7938-BD5E-B88B-00ABC173EB1F}"/>
              </a:ext>
            </a:extLst>
          </p:cNvPr>
          <p:cNvSpPr>
            <a:spLocks noGrp="1"/>
          </p:cNvSpPr>
          <p:nvPr>
            <p:ph type="ctrTitle"/>
          </p:nvPr>
        </p:nvSpPr>
        <p:spPr>
          <a:xfrm>
            <a:off x="-2920181" y="-692354"/>
            <a:ext cx="9144000" cy="1655762"/>
          </a:xfrm>
        </p:spPr>
        <p:txBody>
          <a:bodyPr>
            <a:normAutofit/>
          </a:bodyPr>
          <a:lstStyle/>
          <a:p>
            <a:r>
              <a:rPr lang="en-IN" sz="2800" b="1" u="sng"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1475484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0D1A75-580C-32A3-D289-DE69D2465D8B}"/>
              </a:ext>
            </a:extLst>
          </p:cNvPr>
          <p:cNvSpPr txBox="1"/>
          <p:nvPr/>
        </p:nvSpPr>
        <p:spPr>
          <a:xfrm>
            <a:off x="3048000" y="2271154"/>
            <a:ext cx="6096000" cy="2323713"/>
          </a:xfrm>
          <a:prstGeom prst="rect">
            <a:avLst/>
          </a:prstGeom>
          <a:noFill/>
        </p:spPr>
        <p:txBody>
          <a:bodyPr wrap="square">
            <a:spAutoFit/>
          </a:bodyPr>
          <a:lstStyle/>
          <a:p>
            <a:pPr algn="l" rtl="0" fontAlgn="base">
              <a:lnSpc>
                <a:spcPts val="3480"/>
              </a:lnSpc>
              <a:spcAft>
                <a:spcPts val="1245"/>
              </a:spcAft>
            </a:pPr>
            <a:r>
              <a:rPr lang="en-US" sz="3200" b="1" i="0" u="sng" dirty="0">
                <a:solidFill>
                  <a:srgbClr val="000000"/>
                </a:solidFill>
                <a:effectLst/>
                <a:latin typeface="Times New Roman" panose="02020603050405020304" pitchFamily="18" charset="0"/>
              </a:rPr>
              <a:t>SOFTWARE REQUIREMENTS</a:t>
            </a:r>
            <a:r>
              <a:rPr lang="en-US" sz="3200" b="1" i="0" dirty="0">
                <a:solidFill>
                  <a:srgbClr val="000000"/>
                </a:solidFill>
                <a:effectLst/>
                <a:latin typeface="Times New Roman" panose="02020603050405020304" pitchFamily="18" charset="0"/>
              </a:rPr>
              <a:t>:</a:t>
            </a:r>
            <a:r>
              <a:rPr lang="en-US" sz="3200" b="0" i="0" dirty="0">
                <a:solidFill>
                  <a:srgbClr val="000000"/>
                </a:solidFill>
                <a:effectLst/>
                <a:latin typeface="Times New Roman" panose="02020603050405020304" pitchFamily="18" charset="0"/>
              </a:rPr>
              <a:t>  </a:t>
            </a:r>
            <a:endParaRPr lang="en-US" b="0" i="0" dirty="0">
              <a:solidFill>
                <a:srgbClr val="000000"/>
              </a:solidFill>
              <a:effectLst/>
              <a:latin typeface="Segoe UI" panose="020B0502040204020203" pitchFamily="34" charset="0"/>
            </a:endParaRPr>
          </a:p>
          <a:p>
            <a:pPr algn="l" rtl="0" fontAlgn="base">
              <a:lnSpc>
                <a:spcPts val="2023"/>
              </a:lnSpc>
              <a:spcAft>
                <a:spcPts val="1245"/>
              </a:spcAft>
            </a:pPr>
            <a:r>
              <a:rPr lang="en-US" sz="1800" b="0" i="0" dirty="0">
                <a:solidFill>
                  <a:srgbClr val="000000"/>
                </a:solidFill>
                <a:effectLst/>
                <a:latin typeface="Times New Roman" panose="02020603050405020304" pitchFamily="18" charset="0"/>
              </a:rPr>
              <a:t>  </a:t>
            </a:r>
            <a:endParaRPr lang="en-US" b="0" i="0" dirty="0">
              <a:solidFill>
                <a:srgbClr val="000000"/>
              </a:solidFill>
              <a:effectLst/>
              <a:latin typeface="Segoe UI" panose="020B0502040204020203" pitchFamily="34" charset="0"/>
            </a:endParaRPr>
          </a:p>
          <a:p>
            <a:pPr algn="l" rtl="0" fontAlgn="base">
              <a:lnSpc>
                <a:spcPts val="2023"/>
              </a:lnSpc>
              <a:buFont typeface="Arial" panose="020B0604020202020204" pitchFamily="34" charset="0"/>
              <a:buChar char="•"/>
            </a:pPr>
            <a:r>
              <a:rPr lang="en-US" sz="1800" b="1" i="0" dirty="0">
                <a:solidFill>
                  <a:srgbClr val="000000"/>
                </a:solidFill>
                <a:effectLst/>
                <a:latin typeface="Times New Roman" panose="02020603050405020304" pitchFamily="18" charset="0"/>
              </a:rPr>
              <a:t>  Operating System: </a:t>
            </a:r>
            <a:r>
              <a:rPr lang="en-US" sz="1800" b="0" i="0" dirty="0">
                <a:solidFill>
                  <a:srgbClr val="000000"/>
                </a:solidFill>
                <a:effectLst/>
                <a:latin typeface="Times New Roman" panose="02020603050405020304" pitchFamily="18" charset="0"/>
              </a:rPr>
              <a:t>Windows 8 </a:t>
            </a:r>
          </a:p>
          <a:p>
            <a:pPr algn="l" rtl="0" fontAlgn="base">
              <a:lnSpc>
                <a:spcPts val="2023"/>
              </a:lnSpc>
              <a:buFont typeface="Arial" panose="020B0604020202020204" pitchFamily="34" charset="0"/>
              <a:buChar char="•"/>
            </a:pPr>
            <a:r>
              <a:rPr lang="en-US" sz="1800" b="0" i="0" dirty="0">
                <a:solidFill>
                  <a:srgbClr val="000000"/>
                </a:solidFill>
                <a:effectLst/>
                <a:latin typeface="Times New Roman" panose="02020603050405020304" pitchFamily="18" charset="0"/>
              </a:rPr>
              <a:t>  </a:t>
            </a:r>
            <a:r>
              <a:rPr lang="en-US" sz="1800" b="1" i="0" dirty="0">
                <a:solidFill>
                  <a:srgbClr val="000000"/>
                </a:solidFill>
                <a:effectLst/>
                <a:latin typeface="Times New Roman" panose="02020603050405020304" pitchFamily="18" charset="0"/>
              </a:rPr>
              <a:t>Coding Language</a:t>
            </a:r>
            <a:r>
              <a:rPr lang="en-US" sz="1800" b="0" i="0" dirty="0">
                <a:solidFill>
                  <a:srgbClr val="000000"/>
                </a:solidFill>
                <a:effectLst/>
                <a:latin typeface="Times New Roman" panose="02020603050405020304" pitchFamily="18" charset="0"/>
              </a:rPr>
              <a:t>:  Python 3.7   </a:t>
            </a:r>
          </a:p>
          <a:p>
            <a:pPr algn="l" rtl="0" fontAlgn="base">
              <a:lnSpc>
                <a:spcPts val="2023"/>
              </a:lnSpc>
              <a:spcAft>
                <a:spcPts val="1245"/>
              </a:spcAft>
            </a:pPr>
            <a:r>
              <a:rPr lang="en-US" sz="1800" b="1" i="0" dirty="0">
                <a:solidFill>
                  <a:srgbClr val="000000"/>
                </a:solidFill>
                <a:effectLst/>
                <a:latin typeface="Times New Roman" panose="02020603050405020304" pitchFamily="18" charset="0"/>
              </a:rPr>
              <a:t>                                                 </a:t>
            </a:r>
            <a:r>
              <a:rPr lang="en-US" sz="1800" b="0" i="0" dirty="0">
                <a:solidFill>
                  <a:srgbClr val="000000"/>
                </a:solidFill>
                <a:effectLst/>
                <a:latin typeface="Times New Roman" panose="02020603050405020304" pitchFamily="18" charset="0"/>
              </a:rPr>
              <a:t> </a:t>
            </a:r>
            <a:endParaRPr lang="en-US" b="0" i="0" dirty="0">
              <a:solidFill>
                <a:srgbClr val="000000"/>
              </a:solidFill>
              <a:effectLst/>
              <a:latin typeface="Segoe UI" panose="020B0502040204020203" pitchFamily="34" charset="0"/>
            </a:endParaRPr>
          </a:p>
        </p:txBody>
      </p:sp>
      <p:pic>
        <p:nvPicPr>
          <p:cNvPr id="5" name="Picture 4">
            <a:extLst>
              <a:ext uri="{FF2B5EF4-FFF2-40B4-BE49-F238E27FC236}">
                <a16:creationId xmlns:a16="http://schemas.microsoft.com/office/drawing/2014/main" id="{54459415-53BA-3446-DA29-60E4E6EA9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347" y="288758"/>
            <a:ext cx="10972799" cy="6208295"/>
          </a:xfrm>
          <a:prstGeom prst="rect">
            <a:avLst/>
          </a:prstGeom>
        </p:spPr>
      </p:pic>
    </p:spTree>
    <p:extLst>
      <p:ext uri="{BB962C8B-B14F-4D97-AF65-F5344CB8AC3E}">
        <p14:creationId xmlns:p14="http://schemas.microsoft.com/office/powerpoint/2010/main" val="40104418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201</TotalTime>
  <Words>725</Words>
  <Application>Microsoft Office PowerPoint</Application>
  <PresentationFormat>Widescreen</PresentationFormat>
  <Paragraphs>70</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Segoe UI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Software Requirements</vt:lpstr>
      <vt:lpstr>Hardware Requirements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vaishnavi bendhi</dc:creator>
  <cp:lastModifiedBy>Nag Lakshmi</cp:lastModifiedBy>
  <cp:revision>7</cp:revision>
  <dcterms:created xsi:type="dcterms:W3CDTF">2024-12-20T10:53:20Z</dcterms:created>
  <dcterms:modified xsi:type="dcterms:W3CDTF">2026-04-08T06:13:47Z</dcterms:modified>
</cp:coreProperties>
</file>